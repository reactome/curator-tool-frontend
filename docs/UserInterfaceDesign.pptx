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
  </p:notesMasterIdLst>
  <p:sldIdLst>
    <p:sldId id="256" r:id="rId2"/>
    <p:sldId id="257" r:id="rId3"/>
    <p:sldId id="258" r:id="rId4"/>
  </p:sldIdLst>
  <p:sldSz cx="121920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89"/>
    <p:restoredTop sz="94724"/>
  </p:normalViewPr>
  <p:slideViewPr>
    <p:cSldViewPr snapToGrid="0">
      <p:cViewPr varScale="1">
        <p:scale>
          <a:sx n="156" d="100"/>
          <a:sy n="156" d="100"/>
        </p:scale>
        <p:origin x="24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EF7981-4104-4A44-B089-903C5ACCC29C}" type="datetimeFigureOut">
              <a:rPr lang="en-US" smtClean="0"/>
              <a:t>2/18/26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C0A28-BD2D-1A49-A30E-86847D45FDDA}" type="slidenum">
              <a:rPr lang="en-US" smtClean="0"/>
              <a:t>‹#›</a:t>
            </a:fld>
            <a:endParaRPr lang="en-US"/>
          </a:p>
        </p:txBody>
      </p:sp>
    </p:spTree>
    <p:extLst>
      <p:ext uri="{BB962C8B-B14F-4D97-AF65-F5344CB8AC3E}">
        <p14:creationId xmlns:p14="http://schemas.microsoft.com/office/powerpoint/2010/main" val="3646776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9C0A28-BD2D-1A49-A30E-86847D45FDDA}" type="slidenum">
              <a:rPr lang="en-US" smtClean="0"/>
              <a:t>2</a:t>
            </a:fld>
            <a:endParaRPr lang="en-US"/>
          </a:p>
        </p:txBody>
      </p:sp>
    </p:spTree>
    <p:extLst>
      <p:ext uri="{BB962C8B-B14F-4D97-AF65-F5344CB8AC3E}">
        <p14:creationId xmlns:p14="http://schemas.microsoft.com/office/powerpoint/2010/main" val="18217073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7AAF8-CBF8-2693-E7E0-53B906928B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0C9A44-3C7C-BF7A-7375-DA73E15B4A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15D92-145C-1705-6C31-FC49E821D0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FB5897-6108-CE61-D524-972FF30264DC}"/>
              </a:ext>
            </a:extLst>
          </p:cNvPr>
          <p:cNvSpPr>
            <a:spLocks noGrp="1"/>
          </p:cNvSpPr>
          <p:nvPr>
            <p:ph type="sldNum" sz="quarter" idx="5"/>
          </p:nvPr>
        </p:nvSpPr>
        <p:spPr/>
        <p:txBody>
          <a:bodyPr/>
          <a:lstStyle/>
          <a:p>
            <a:fld id="{179C0A28-BD2D-1A49-A30E-86847D45FDDA}" type="slidenum">
              <a:rPr lang="en-US" smtClean="0"/>
              <a:t>3</a:t>
            </a:fld>
            <a:endParaRPr lang="en-US"/>
          </a:p>
        </p:txBody>
      </p:sp>
    </p:spTree>
    <p:extLst>
      <p:ext uri="{BB962C8B-B14F-4D97-AF65-F5344CB8AC3E}">
        <p14:creationId xmlns:p14="http://schemas.microsoft.com/office/powerpoint/2010/main" val="3442121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496484"/>
            <a:ext cx="10363200" cy="3183467"/>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1524000" y="4802717"/>
            <a:ext cx="9144000" cy="2207683"/>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CEA8DB8-EBFA-8C4D-8FF6-BC8323702808}"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49319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EA8DB8-EBFA-8C4D-8FF6-BC8323702808}"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0537109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2279653"/>
            <a:ext cx="10515600" cy="3803649"/>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831851" y="6119286"/>
            <a:ext cx="10515600" cy="2000249"/>
          </a:xfrm>
        </p:spPr>
        <p:txBody>
          <a:bodyPr/>
          <a:lstStyle>
            <a:lvl1pPr marL="0" indent="0">
              <a:buNone/>
              <a:defRPr sz="3200">
                <a:solidFill>
                  <a:schemeClr val="tx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CEA8DB8-EBFA-8C4D-8FF6-BC8323702808}"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2878635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2434167"/>
            <a:ext cx="51816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434167"/>
            <a:ext cx="51816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CEA8DB8-EBFA-8C4D-8FF6-BC8323702808}" type="datetimeFigureOut">
              <a:rPr lang="en-US" smtClean="0"/>
              <a:t>2/18/26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933638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486835"/>
            <a:ext cx="1051560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241551"/>
            <a:ext cx="5157787"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839789" y="3340100"/>
            <a:ext cx="5157787"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241551"/>
            <a:ext cx="5183188"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172201" y="3340100"/>
            <a:ext cx="5183188"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CEA8DB8-EBFA-8C4D-8FF6-BC8323702808}" type="datetimeFigureOut">
              <a:rPr lang="en-US" smtClean="0"/>
              <a:t>2/18/26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3286139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CEA8DB8-EBFA-8C4D-8FF6-BC8323702808}" type="datetimeFigureOut">
              <a:rPr lang="en-US" smtClean="0"/>
              <a:t>2/18/26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26739787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EA8DB8-EBFA-8C4D-8FF6-BC8323702808}" type="datetimeFigureOut">
              <a:rPr lang="en-US" smtClean="0"/>
              <a:t>2/18/26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185860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609600"/>
            <a:ext cx="3932237" cy="2133600"/>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188" y="1316568"/>
            <a:ext cx="6172200" cy="6498167"/>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743200"/>
            <a:ext cx="3932237"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0CEA8DB8-EBFA-8C4D-8FF6-BC8323702808}" type="datetimeFigureOut">
              <a:rPr lang="en-US" smtClean="0"/>
              <a:t>2/18/26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151075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609600"/>
            <a:ext cx="3932237" cy="2133600"/>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316568"/>
            <a:ext cx="6172200" cy="6498167"/>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839788" y="2743200"/>
            <a:ext cx="3932237"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0CEA8DB8-EBFA-8C4D-8FF6-BC8323702808}" type="datetimeFigureOut">
              <a:rPr lang="en-US" smtClean="0"/>
              <a:t>2/18/26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37539921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EA8DB8-EBFA-8C4D-8FF6-BC8323702808}"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6181141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486833"/>
            <a:ext cx="2628900"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486833"/>
            <a:ext cx="7734300"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CEA8DB8-EBFA-8C4D-8FF6-BC8323702808}"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9933E8-0234-114D-BC6D-973064DF7BE7}" type="slidenum">
              <a:rPr lang="en-US" smtClean="0"/>
              <a:t>‹#›</a:t>
            </a:fld>
            <a:endParaRPr lang="en-US"/>
          </a:p>
        </p:txBody>
      </p:sp>
    </p:spTree>
    <p:extLst>
      <p:ext uri="{BB962C8B-B14F-4D97-AF65-F5344CB8AC3E}">
        <p14:creationId xmlns:p14="http://schemas.microsoft.com/office/powerpoint/2010/main" val="1044231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486835"/>
            <a:ext cx="1051560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2434167"/>
            <a:ext cx="105156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8475136"/>
            <a:ext cx="27432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0CEA8DB8-EBFA-8C4D-8FF6-BC8323702808}" type="datetimeFigureOut">
              <a:rPr lang="en-US" smtClean="0"/>
              <a:t>2/18/26</a:t>
            </a:fld>
            <a:endParaRPr lang="en-US"/>
          </a:p>
        </p:txBody>
      </p:sp>
      <p:sp>
        <p:nvSpPr>
          <p:cNvPr id="5" name="Footer Placeholder 4"/>
          <p:cNvSpPr>
            <a:spLocks noGrp="1"/>
          </p:cNvSpPr>
          <p:nvPr>
            <p:ph type="ftr" sz="quarter" idx="3"/>
          </p:nvPr>
        </p:nvSpPr>
        <p:spPr>
          <a:xfrm>
            <a:off x="4038600" y="8475136"/>
            <a:ext cx="4114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8475136"/>
            <a:ext cx="27432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719933E8-0234-114D-BC6D-973064DF7BE7}" type="slidenum">
              <a:rPr lang="en-US" smtClean="0"/>
              <a:t>‹#›</a:t>
            </a:fld>
            <a:endParaRPr lang="en-US"/>
          </a:p>
        </p:txBody>
      </p:sp>
    </p:spTree>
    <p:extLst>
      <p:ext uri="{BB962C8B-B14F-4D97-AF65-F5344CB8AC3E}">
        <p14:creationId xmlns:p14="http://schemas.microsoft.com/office/powerpoint/2010/main" val="36838651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CA061-6876-2882-08A5-1D8141ACEC06}"/>
              </a:ext>
            </a:extLst>
          </p:cNvPr>
          <p:cNvSpPr txBox="1"/>
          <p:nvPr/>
        </p:nvSpPr>
        <p:spPr>
          <a:xfrm>
            <a:off x="3276672" y="737555"/>
            <a:ext cx="4890826" cy="369332"/>
          </a:xfrm>
          <a:prstGeom prst="rect">
            <a:avLst/>
          </a:prstGeom>
          <a:noFill/>
        </p:spPr>
        <p:txBody>
          <a:bodyPr wrap="none" rtlCol="0">
            <a:spAutoFit/>
          </a:bodyPr>
          <a:lstStyle/>
          <a:p>
            <a:r>
              <a:rPr lang="en-US" dirty="0"/>
              <a:t>Enter a command (create, update, search, delete):</a:t>
            </a:r>
          </a:p>
        </p:txBody>
      </p:sp>
      <p:sp>
        <p:nvSpPr>
          <p:cNvPr id="5" name="TextBox 4">
            <a:extLst>
              <a:ext uri="{FF2B5EF4-FFF2-40B4-BE49-F238E27FC236}">
                <a16:creationId xmlns:a16="http://schemas.microsoft.com/office/drawing/2014/main" id="{4FA2EF30-8B5C-64AE-EDDF-7DA9A546369C}"/>
              </a:ext>
            </a:extLst>
          </p:cNvPr>
          <p:cNvSpPr txBox="1"/>
          <p:nvPr/>
        </p:nvSpPr>
        <p:spPr>
          <a:xfrm>
            <a:off x="3276673" y="1361398"/>
            <a:ext cx="5011885" cy="1477328"/>
          </a:xfrm>
          <a:prstGeom prst="rect">
            <a:avLst/>
          </a:prstGeom>
          <a:noFill/>
        </p:spPr>
        <p:txBody>
          <a:bodyPr wrap="none" rtlCol="0">
            <a:spAutoFit/>
          </a:bodyPr>
          <a:lstStyle/>
          <a:p>
            <a:r>
              <a:rPr lang="en-US" dirty="0"/>
              <a:t>* Some command examples: </a:t>
            </a:r>
          </a:p>
          <a:p>
            <a:r>
              <a:rPr lang="en-US" dirty="0"/>
              <a:t>1). Create a reaction with species = ”homo sapiens”</a:t>
            </a:r>
          </a:p>
          <a:p>
            <a:r>
              <a:rPr lang="en-US" dirty="0"/>
              <a:t>2). Update reaction with DB_ID = 123456</a:t>
            </a:r>
          </a:p>
          <a:p>
            <a:r>
              <a:rPr lang="en-US" dirty="0"/>
              <a:t>3). Search reactions with species = “homo sapiens”</a:t>
            </a:r>
          </a:p>
          <a:p>
            <a:r>
              <a:rPr lang="en-US" dirty="0"/>
              <a:t>4). Delete </a:t>
            </a:r>
            <a:r>
              <a:rPr lang="en-US" dirty="0" err="1"/>
              <a:t>LiteratureReference</a:t>
            </a:r>
            <a:r>
              <a:rPr lang="en-US" dirty="0"/>
              <a:t> with DB_ID = 345678</a:t>
            </a:r>
          </a:p>
        </p:txBody>
      </p:sp>
      <p:sp>
        <p:nvSpPr>
          <p:cNvPr id="6" name="Rectangle 5">
            <a:extLst>
              <a:ext uri="{FF2B5EF4-FFF2-40B4-BE49-F238E27FC236}">
                <a16:creationId xmlns:a16="http://schemas.microsoft.com/office/drawing/2014/main" id="{FF694D0F-BB17-1B08-2621-0CA9E4C423C9}"/>
              </a:ext>
            </a:extLst>
          </p:cNvPr>
          <p:cNvSpPr/>
          <p:nvPr/>
        </p:nvSpPr>
        <p:spPr>
          <a:xfrm>
            <a:off x="3387769" y="1106888"/>
            <a:ext cx="4903448" cy="2545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F0100FA3-2523-63D8-14A1-75EE13E46637}"/>
              </a:ext>
            </a:extLst>
          </p:cNvPr>
          <p:cNvSpPr/>
          <p:nvPr/>
        </p:nvSpPr>
        <p:spPr>
          <a:xfrm>
            <a:off x="8350210" y="1097056"/>
            <a:ext cx="1081549" cy="264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Execute</a:t>
            </a:r>
          </a:p>
        </p:txBody>
      </p:sp>
      <p:sp>
        <p:nvSpPr>
          <p:cNvPr id="8" name="Rounded Rectangle 7">
            <a:extLst>
              <a:ext uri="{FF2B5EF4-FFF2-40B4-BE49-F238E27FC236}">
                <a16:creationId xmlns:a16="http://schemas.microsoft.com/office/drawing/2014/main" id="{2EECC4E1-6132-50E5-5985-8038F16B38E2}"/>
              </a:ext>
            </a:extLst>
          </p:cNvPr>
          <p:cNvSpPr/>
          <p:nvPr/>
        </p:nvSpPr>
        <p:spPr>
          <a:xfrm>
            <a:off x="3276672" y="3087764"/>
            <a:ext cx="1288118" cy="101518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Schema View</a:t>
            </a:r>
          </a:p>
        </p:txBody>
      </p:sp>
      <p:sp>
        <p:nvSpPr>
          <p:cNvPr id="9" name="Rounded Rectangle 8">
            <a:extLst>
              <a:ext uri="{FF2B5EF4-FFF2-40B4-BE49-F238E27FC236}">
                <a16:creationId xmlns:a16="http://schemas.microsoft.com/office/drawing/2014/main" id="{842E73ED-D6CB-5FBC-21E6-8A8DF75242D5}"/>
              </a:ext>
            </a:extLst>
          </p:cNvPr>
          <p:cNvSpPr/>
          <p:nvPr/>
        </p:nvSpPr>
        <p:spPr>
          <a:xfrm>
            <a:off x="4923560" y="3094882"/>
            <a:ext cx="1288118" cy="101518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Event View</a:t>
            </a:r>
          </a:p>
        </p:txBody>
      </p:sp>
      <p:sp>
        <p:nvSpPr>
          <p:cNvPr id="10" name="Rounded Rectangle 9">
            <a:extLst>
              <a:ext uri="{FF2B5EF4-FFF2-40B4-BE49-F238E27FC236}">
                <a16:creationId xmlns:a16="http://schemas.microsoft.com/office/drawing/2014/main" id="{0405D4CA-0163-5CF4-FEB1-8B3E2C1AA7FF}"/>
              </a:ext>
            </a:extLst>
          </p:cNvPr>
          <p:cNvSpPr/>
          <p:nvPr/>
        </p:nvSpPr>
        <p:spPr>
          <a:xfrm>
            <a:off x="6570448" y="3094882"/>
            <a:ext cx="1288118" cy="101518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ELV View</a:t>
            </a:r>
          </a:p>
        </p:txBody>
      </p:sp>
      <p:sp>
        <p:nvSpPr>
          <p:cNvPr id="11" name="Rounded Rectangle 10">
            <a:extLst>
              <a:ext uri="{FF2B5EF4-FFF2-40B4-BE49-F238E27FC236}">
                <a16:creationId xmlns:a16="http://schemas.microsoft.com/office/drawing/2014/main" id="{BB6046CF-8C34-1802-E6C1-91C280A0BC56}"/>
              </a:ext>
            </a:extLst>
          </p:cNvPr>
          <p:cNvSpPr/>
          <p:nvPr/>
        </p:nvSpPr>
        <p:spPr>
          <a:xfrm>
            <a:off x="8143640" y="3087763"/>
            <a:ext cx="1288118" cy="101518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 Apps</a:t>
            </a:r>
          </a:p>
        </p:txBody>
      </p:sp>
      <p:sp>
        <p:nvSpPr>
          <p:cNvPr id="12" name="Rounded Rectangle 11">
            <a:extLst>
              <a:ext uri="{FF2B5EF4-FFF2-40B4-BE49-F238E27FC236}">
                <a16:creationId xmlns:a16="http://schemas.microsoft.com/office/drawing/2014/main" id="{3423F9A6-5828-8602-3B9D-4A9AF991513F}"/>
              </a:ext>
            </a:extLst>
          </p:cNvPr>
          <p:cNvSpPr/>
          <p:nvPr/>
        </p:nvSpPr>
        <p:spPr>
          <a:xfrm>
            <a:off x="3276672" y="5316452"/>
            <a:ext cx="6155085" cy="4916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View History (20 instances)</a:t>
            </a:r>
          </a:p>
        </p:txBody>
      </p:sp>
      <p:sp>
        <p:nvSpPr>
          <p:cNvPr id="13" name="Rounded Rectangle 12">
            <a:extLst>
              <a:ext uri="{FF2B5EF4-FFF2-40B4-BE49-F238E27FC236}">
                <a16:creationId xmlns:a16="http://schemas.microsoft.com/office/drawing/2014/main" id="{100E2827-3616-B5E4-37A8-D2B57A9329EB}"/>
              </a:ext>
            </a:extLst>
          </p:cNvPr>
          <p:cNvSpPr/>
          <p:nvPr/>
        </p:nvSpPr>
        <p:spPr>
          <a:xfrm>
            <a:off x="3276671" y="5976050"/>
            <a:ext cx="6155085" cy="4916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Notes (4 notes)</a:t>
            </a:r>
          </a:p>
        </p:txBody>
      </p:sp>
      <p:sp>
        <p:nvSpPr>
          <p:cNvPr id="14" name="Rounded Rectangle 13">
            <a:extLst>
              <a:ext uri="{FF2B5EF4-FFF2-40B4-BE49-F238E27FC236}">
                <a16:creationId xmlns:a16="http://schemas.microsoft.com/office/drawing/2014/main" id="{976343A2-C7E8-C905-46BE-CDAF1E7C83D3}"/>
              </a:ext>
            </a:extLst>
          </p:cNvPr>
          <p:cNvSpPr/>
          <p:nvPr/>
        </p:nvSpPr>
        <p:spPr>
          <a:xfrm>
            <a:off x="3276670" y="6635648"/>
            <a:ext cx="6155085" cy="4916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QA Issues (8 issues)</a:t>
            </a:r>
          </a:p>
        </p:txBody>
      </p:sp>
      <p:sp>
        <p:nvSpPr>
          <p:cNvPr id="15" name="Rounded Rectangle 14">
            <a:extLst>
              <a:ext uri="{FF2B5EF4-FFF2-40B4-BE49-F238E27FC236}">
                <a16:creationId xmlns:a16="http://schemas.microsoft.com/office/drawing/2014/main" id="{E68E66B6-9BF0-EA36-D0A2-231D0024E7C3}"/>
              </a:ext>
            </a:extLst>
          </p:cNvPr>
          <p:cNvSpPr/>
          <p:nvPr/>
        </p:nvSpPr>
        <p:spPr>
          <a:xfrm>
            <a:off x="3276669" y="7295246"/>
            <a:ext cx="6155085" cy="4916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New/Updated Instances since Last Logout (25 instances)</a:t>
            </a:r>
          </a:p>
        </p:txBody>
      </p:sp>
      <p:sp>
        <p:nvSpPr>
          <p:cNvPr id="16" name="Rounded Rectangle 15">
            <a:extLst>
              <a:ext uri="{FF2B5EF4-FFF2-40B4-BE49-F238E27FC236}">
                <a16:creationId xmlns:a16="http://schemas.microsoft.com/office/drawing/2014/main" id="{929963F4-B8CB-B2C8-21AA-911B4EA42DB7}"/>
              </a:ext>
            </a:extLst>
          </p:cNvPr>
          <p:cNvSpPr/>
          <p:nvPr/>
        </p:nvSpPr>
        <p:spPr>
          <a:xfrm>
            <a:off x="3276669" y="7954845"/>
            <a:ext cx="6155085" cy="49161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Logged-in Curators (3 curators)</a:t>
            </a:r>
          </a:p>
        </p:txBody>
      </p:sp>
    </p:spTree>
    <p:extLst>
      <p:ext uri="{BB962C8B-B14F-4D97-AF65-F5344CB8AC3E}">
        <p14:creationId xmlns:p14="http://schemas.microsoft.com/office/powerpoint/2010/main" val="31967184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1E890F2-EE6B-27EA-4609-2F13F00AC302}"/>
              </a:ext>
            </a:extLst>
          </p:cNvPr>
          <p:cNvSpPr/>
          <p:nvPr/>
        </p:nvSpPr>
        <p:spPr>
          <a:xfrm>
            <a:off x="700542" y="1876527"/>
            <a:ext cx="1790298" cy="4620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Diagram </a:t>
            </a:r>
            <a:r>
              <a:rPr lang="en-US" sz="1400" dirty="0" err="1"/>
              <a:t>json</a:t>
            </a:r>
            <a:r>
              <a:rPr lang="en-US" sz="1400" dirty="0"/>
              <a:t> (Pathway - normal)</a:t>
            </a:r>
          </a:p>
        </p:txBody>
      </p:sp>
      <p:sp>
        <p:nvSpPr>
          <p:cNvPr id="5" name="Rectangle 4">
            <a:extLst>
              <a:ext uri="{FF2B5EF4-FFF2-40B4-BE49-F238E27FC236}">
                <a16:creationId xmlns:a16="http://schemas.microsoft.com/office/drawing/2014/main" id="{C0B41816-8242-04D7-DD1E-8B3D30BF15A3}"/>
              </a:ext>
            </a:extLst>
          </p:cNvPr>
          <p:cNvSpPr/>
          <p:nvPr/>
        </p:nvSpPr>
        <p:spPr>
          <a:xfrm>
            <a:off x="3909727" y="3458541"/>
            <a:ext cx="1790298" cy="46201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Diagram </a:t>
            </a:r>
            <a:r>
              <a:rPr lang="en-US" sz="1400" dirty="0" err="1"/>
              <a:t>json</a:t>
            </a:r>
            <a:r>
              <a:rPr lang="en-US" sz="1400" dirty="0"/>
              <a:t> (</a:t>
            </a:r>
            <a:r>
              <a:rPr lang="en-US" sz="1400" dirty="0" err="1"/>
              <a:t>PathwayDiagram</a:t>
            </a:r>
            <a:r>
              <a:rPr lang="en-US" sz="1400" dirty="0"/>
              <a:t>)</a:t>
            </a:r>
          </a:p>
        </p:txBody>
      </p:sp>
      <p:sp>
        <p:nvSpPr>
          <p:cNvPr id="6" name="Rectangle 5">
            <a:extLst>
              <a:ext uri="{FF2B5EF4-FFF2-40B4-BE49-F238E27FC236}">
                <a16:creationId xmlns:a16="http://schemas.microsoft.com/office/drawing/2014/main" id="{BCF5C22A-B799-D49E-337F-ECCA8D68F1B7}"/>
              </a:ext>
            </a:extLst>
          </p:cNvPr>
          <p:cNvSpPr/>
          <p:nvPr/>
        </p:nvSpPr>
        <p:spPr>
          <a:xfrm>
            <a:off x="3616997" y="1876526"/>
            <a:ext cx="1790298" cy="4620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Diagram </a:t>
            </a:r>
            <a:r>
              <a:rPr lang="en-US" sz="1400" dirty="0" err="1"/>
              <a:t>json</a:t>
            </a:r>
            <a:r>
              <a:rPr lang="en-US" sz="1400" dirty="0"/>
              <a:t> (Pathway - disease)</a:t>
            </a:r>
          </a:p>
        </p:txBody>
      </p:sp>
      <p:sp>
        <p:nvSpPr>
          <p:cNvPr id="7" name="Rectangle 6">
            <a:extLst>
              <a:ext uri="{FF2B5EF4-FFF2-40B4-BE49-F238E27FC236}">
                <a16:creationId xmlns:a16="http://schemas.microsoft.com/office/drawing/2014/main" id="{7BF0579E-94DE-712A-8ADA-13EB1DAFD305}"/>
              </a:ext>
            </a:extLst>
          </p:cNvPr>
          <p:cNvSpPr/>
          <p:nvPr/>
        </p:nvSpPr>
        <p:spPr>
          <a:xfrm>
            <a:off x="2155562" y="5997976"/>
            <a:ext cx="1790298" cy="46201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err="1"/>
              <a:t>Cytoscape.js</a:t>
            </a:r>
            <a:r>
              <a:rPr lang="en-US" sz="1400" dirty="0"/>
              <a:t> </a:t>
            </a:r>
            <a:r>
              <a:rPr lang="en-US" sz="1400" dirty="0" err="1"/>
              <a:t>json</a:t>
            </a:r>
            <a:r>
              <a:rPr lang="en-US" sz="1400" dirty="0"/>
              <a:t> (</a:t>
            </a:r>
            <a:r>
              <a:rPr lang="en-US" sz="1400" dirty="0" err="1"/>
              <a:t>PathwayDiagram</a:t>
            </a:r>
            <a:r>
              <a:rPr lang="en-US" sz="1400" dirty="0"/>
              <a:t>)</a:t>
            </a:r>
          </a:p>
        </p:txBody>
      </p:sp>
      <p:sp>
        <p:nvSpPr>
          <p:cNvPr id="8" name="Rectangle 7">
            <a:extLst>
              <a:ext uri="{FF2B5EF4-FFF2-40B4-BE49-F238E27FC236}">
                <a16:creationId xmlns:a16="http://schemas.microsoft.com/office/drawing/2014/main" id="{6BF2F5B3-6AD7-A8C9-9A6F-C6B79EE04F31}"/>
              </a:ext>
            </a:extLst>
          </p:cNvPr>
          <p:cNvSpPr/>
          <p:nvPr/>
        </p:nvSpPr>
        <p:spPr>
          <a:xfrm>
            <a:off x="9810855" y="3796499"/>
            <a:ext cx="2098307" cy="164752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PathwayDiagram</a:t>
            </a:r>
            <a:r>
              <a:rPr lang="en-US" dirty="0"/>
              <a:t> Widget (</a:t>
            </a:r>
            <a:r>
              <a:rPr lang="en-US" dirty="0" err="1"/>
              <a:t>cytoscape.js</a:t>
            </a:r>
            <a:r>
              <a:rPr lang="en-US" dirty="0"/>
              <a:t>)</a:t>
            </a:r>
          </a:p>
        </p:txBody>
      </p:sp>
      <p:sp>
        <p:nvSpPr>
          <p:cNvPr id="9" name="Rectangle 8">
            <a:extLst>
              <a:ext uri="{FF2B5EF4-FFF2-40B4-BE49-F238E27FC236}">
                <a16:creationId xmlns:a16="http://schemas.microsoft.com/office/drawing/2014/main" id="{9BD2B4B0-6F4E-D09A-9901-DCD0A7B658D9}"/>
              </a:ext>
            </a:extLst>
          </p:cNvPr>
          <p:cNvSpPr/>
          <p:nvPr/>
        </p:nvSpPr>
        <p:spPr>
          <a:xfrm>
            <a:off x="500016" y="1580543"/>
            <a:ext cx="5592278" cy="4138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1DF40F4-54BA-5731-E29E-AEFFF8A1EF8D}"/>
              </a:ext>
            </a:extLst>
          </p:cNvPr>
          <p:cNvSpPr/>
          <p:nvPr/>
        </p:nvSpPr>
        <p:spPr>
          <a:xfrm>
            <a:off x="500016" y="5762517"/>
            <a:ext cx="5592278" cy="9760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7DB079ED-23D4-6A18-E2B9-7DA487EC6819}"/>
              </a:ext>
            </a:extLst>
          </p:cNvPr>
          <p:cNvSpPr/>
          <p:nvPr/>
        </p:nvSpPr>
        <p:spPr>
          <a:xfrm>
            <a:off x="1326142" y="3586866"/>
            <a:ext cx="1310641" cy="529389"/>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PathwayDiagram</a:t>
            </a:r>
            <a:r>
              <a:rPr lang="en-US" sz="1200" dirty="0"/>
              <a:t> (instance)</a:t>
            </a:r>
          </a:p>
        </p:txBody>
      </p:sp>
      <p:sp>
        <p:nvSpPr>
          <p:cNvPr id="12" name="TextBox 11">
            <a:extLst>
              <a:ext uri="{FF2B5EF4-FFF2-40B4-BE49-F238E27FC236}">
                <a16:creationId xmlns:a16="http://schemas.microsoft.com/office/drawing/2014/main" id="{6FD8A747-ADED-AC86-0333-70F9A3D0AD7E}"/>
              </a:ext>
            </a:extLst>
          </p:cNvPr>
          <p:cNvSpPr txBox="1"/>
          <p:nvPr/>
        </p:nvSpPr>
        <p:spPr>
          <a:xfrm>
            <a:off x="455223" y="5186194"/>
            <a:ext cx="1535870" cy="461665"/>
          </a:xfrm>
          <a:prstGeom prst="rect">
            <a:avLst/>
          </a:prstGeom>
          <a:noFill/>
        </p:spPr>
        <p:txBody>
          <a:bodyPr wrap="none" rtlCol="0">
            <a:spAutoFit/>
          </a:bodyPr>
          <a:lstStyle/>
          <a:p>
            <a:pPr algn="ctr"/>
            <a:r>
              <a:rPr lang="en-US" sz="1200" b="1" u="sng" dirty="0"/>
              <a:t>Shared central space </a:t>
            </a:r>
          </a:p>
          <a:p>
            <a:pPr algn="ctr"/>
            <a:r>
              <a:rPr lang="en-US" sz="1200" b="1" u="sng" dirty="0"/>
              <a:t>(</a:t>
            </a:r>
            <a:r>
              <a:rPr lang="en-US" sz="1200" b="1" u="sng" dirty="0" err="1"/>
              <a:t>db</a:t>
            </a:r>
            <a:r>
              <a:rPr lang="en-US" sz="1200" b="1" u="sng" dirty="0"/>
              <a:t> and files)</a:t>
            </a:r>
          </a:p>
        </p:txBody>
      </p:sp>
      <p:sp>
        <p:nvSpPr>
          <p:cNvPr id="13" name="TextBox 12">
            <a:extLst>
              <a:ext uri="{FF2B5EF4-FFF2-40B4-BE49-F238E27FC236}">
                <a16:creationId xmlns:a16="http://schemas.microsoft.com/office/drawing/2014/main" id="{1D7B215A-A499-3F9B-FB25-B675D5597447}"/>
              </a:ext>
            </a:extLst>
          </p:cNvPr>
          <p:cNvSpPr txBox="1"/>
          <p:nvPr/>
        </p:nvSpPr>
        <p:spPr>
          <a:xfrm>
            <a:off x="455223" y="6421615"/>
            <a:ext cx="1327543" cy="276999"/>
          </a:xfrm>
          <a:prstGeom prst="rect">
            <a:avLst/>
          </a:prstGeom>
          <a:noFill/>
        </p:spPr>
        <p:txBody>
          <a:bodyPr wrap="none" rtlCol="0">
            <a:spAutoFit/>
          </a:bodyPr>
          <a:lstStyle/>
          <a:p>
            <a:r>
              <a:rPr lang="en-US" sz="1200" b="1" u="sng" dirty="0"/>
              <a:t>User staged space</a:t>
            </a:r>
          </a:p>
        </p:txBody>
      </p:sp>
      <p:cxnSp>
        <p:nvCxnSpPr>
          <p:cNvPr id="15" name="Elbow Connector 14">
            <a:extLst>
              <a:ext uri="{FF2B5EF4-FFF2-40B4-BE49-F238E27FC236}">
                <a16:creationId xmlns:a16="http://schemas.microsoft.com/office/drawing/2014/main" id="{D2E6BACA-DDA4-2956-D09A-96CA12DE942A}"/>
              </a:ext>
            </a:extLst>
          </p:cNvPr>
          <p:cNvCxnSpPr>
            <a:cxnSpLocks/>
            <a:stCxn id="8" idx="0"/>
            <a:endCxn id="4" idx="0"/>
          </p:cNvCxnSpPr>
          <p:nvPr/>
        </p:nvCxnSpPr>
        <p:spPr>
          <a:xfrm rot="16200000" flipV="1">
            <a:off x="5267864" y="-1795646"/>
            <a:ext cx="1919972" cy="9264318"/>
          </a:xfrm>
          <a:prstGeom prst="bentConnector3">
            <a:avLst>
              <a:gd name="adj1" fmla="val 111906"/>
            </a:avLst>
          </a:prstGeom>
          <a:ln w="1270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F966A34C-D0E6-90E1-CF6A-B4FD4C7035B5}"/>
              </a:ext>
            </a:extLst>
          </p:cNvPr>
          <p:cNvCxnSpPr>
            <a:cxnSpLocks/>
            <a:stCxn id="8" idx="0"/>
            <a:endCxn id="6" idx="3"/>
          </p:cNvCxnSpPr>
          <p:nvPr/>
        </p:nvCxnSpPr>
        <p:spPr>
          <a:xfrm rot="16200000" flipV="1">
            <a:off x="7289169" y="225659"/>
            <a:ext cx="1688967" cy="5452714"/>
          </a:xfrm>
          <a:prstGeom prst="bentConnector2">
            <a:avLst/>
          </a:prstGeom>
          <a:ln w="12700">
            <a:headEnd type="triangle"/>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564B580-8240-2C5A-C348-1B033203C4E4}"/>
              </a:ext>
            </a:extLst>
          </p:cNvPr>
          <p:cNvSpPr txBox="1"/>
          <p:nvPr/>
        </p:nvSpPr>
        <p:spPr>
          <a:xfrm>
            <a:off x="7221033" y="1385158"/>
            <a:ext cx="1504899" cy="276999"/>
          </a:xfrm>
          <a:prstGeom prst="rect">
            <a:avLst/>
          </a:prstGeom>
          <a:noFill/>
        </p:spPr>
        <p:txBody>
          <a:bodyPr wrap="none" rtlCol="0">
            <a:spAutoFit/>
          </a:bodyPr>
          <a:lstStyle/>
          <a:p>
            <a:r>
              <a:rPr lang="en-US" sz="1200" dirty="0"/>
              <a:t>load normal pathway</a:t>
            </a:r>
          </a:p>
        </p:txBody>
      </p:sp>
      <p:sp>
        <p:nvSpPr>
          <p:cNvPr id="20" name="TextBox 19">
            <a:extLst>
              <a:ext uri="{FF2B5EF4-FFF2-40B4-BE49-F238E27FC236}">
                <a16:creationId xmlns:a16="http://schemas.microsoft.com/office/drawing/2014/main" id="{3B82D402-7329-CE36-4BFF-0D33CA845230}"/>
              </a:ext>
            </a:extLst>
          </p:cNvPr>
          <p:cNvSpPr txBox="1"/>
          <p:nvPr/>
        </p:nvSpPr>
        <p:spPr>
          <a:xfrm>
            <a:off x="6640936" y="1844800"/>
            <a:ext cx="2945329" cy="276999"/>
          </a:xfrm>
          <a:prstGeom prst="rect">
            <a:avLst/>
          </a:prstGeom>
          <a:noFill/>
        </p:spPr>
        <p:txBody>
          <a:bodyPr wrap="square" rtlCol="0">
            <a:spAutoFit/>
          </a:bodyPr>
          <a:lstStyle/>
          <a:p>
            <a:r>
              <a:rPr lang="en-US" sz="1200" dirty="0"/>
              <a:t>load disease pathway (comparison enabled)</a:t>
            </a:r>
          </a:p>
        </p:txBody>
      </p:sp>
      <p:sp>
        <p:nvSpPr>
          <p:cNvPr id="21" name="TextBox 20">
            <a:extLst>
              <a:ext uri="{FF2B5EF4-FFF2-40B4-BE49-F238E27FC236}">
                <a16:creationId xmlns:a16="http://schemas.microsoft.com/office/drawing/2014/main" id="{D86611A6-C02A-D44E-28DC-3EF7CF69BD6E}"/>
              </a:ext>
            </a:extLst>
          </p:cNvPr>
          <p:cNvSpPr txBox="1"/>
          <p:nvPr/>
        </p:nvSpPr>
        <p:spPr>
          <a:xfrm>
            <a:off x="9598850" y="2549238"/>
            <a:ext cx="1248573" cy="646331"/>
          </a:xfrm>
          <a:prstGeom prst="rect">
            <a:avLst/>
          </a:prstGeom>
          <a:noFill/>
        </p:spPr>
        <p:txBody>
          <a:bodyPr wrap="square" rtlCol="0">
            <a:spAutoFit/>
          </a:bodyPr>
          <a:lstStyle/>
          <a:p>
            <a:pPr algn="ctr"/>
            <a:r>
              <a:rPr lang="en-US" sz="1200" dirty="0"/>
              <a:t>Convert diagram </a:t>
            </a:r>
            <a:r>
              <a:rPr lang="en-US" sz="1200" dirty="0" err="1"/>
              <a:t>json</a:t>
            </a:r>
            <a:r>
              <a:rPr lang="en-US" sz="1200" dirty="0"/>
              <a:t> to </a:t>
            </a:r>
            <a:r>
              <a:rPr lang="en-US" sz="1200" dirty="0" err="1"/>
              <a:t>cytosacpe.js</a:t>
            </a:r>
            <a:r>
              <a:rPr lang="en-US" sz="1200" dirty="0"/>
              <a:t> </a:t>
            </a:r>
            <a:r>
              <a:rPr lang="en-US" sz="1200" dirty="0" err="1"/>
              <a:t>json</a:t>
            </a:r>
            <a:endParaRPr lang="en-US" sz="1200" dirty="0"/>
          </a:p>
        </p:txBody>
      </p:sp>
      <p:sp>
        <p:nvSpPr>
          <p:cNvPr id="29" name="TextBox 28">
            <a:extLst>
              <a:ext uri="{FF2B5EF4-FFF2-40B4-BE49-F238E27FC236}">
                <a16:creationId xmlns:a16="http://schemas.microsoft.com/office/drawing/2014/main" id="{D7165115-7274-E9BF-D3F8-59EB0CCB21ED}"/>
              </a:ext>
            </a:extLst>
          </p:cNvPr>
          <p:cNvSpPr txBox="1"/>
          <p:nvPr/>
        </p:nvSpPr>
        <p:spPr>
          <a:xfrm>
            <a:off x="6481621" y="3056126"/>
            <a:ext cx="3104644" cy="646331"/>
          </a:xfrm>
          <a:prstGeom prst="rect">
            <a:avLst/>
          </a:prstGeom>
          <a:noFill/>
        </p:spPr>
        <p:txBody>
          <a:bodyPr wrap="square" rtlCol="0">
            <a:spAutoFit/>
          </a:bodyPr>
          <a:lstStyle/>
          <a:p>
            <a:pPr algn="ctr"/>
            <a:r>
              <a:rPr lang="en-US" sz="1200" dirty="0"/>
              <a:t>Load </a:t>
            </a:r>
            <a:r>
              <a:rPr lang="en-US" sz="1200" dirty="0" err="1"/>
              <a:t>json</a:t>
            </a:r>
            <a:r>
              <a:rPr lang="en-US" sz="1200" dirty="0"/>
              <a:t> for pathway diagram when ”enable edit” is called if no user staged file (1</a:t>
            </a:r>
            <a:r>
              <a:rPr lang="en-US" sz="1200" baseline="30000" dirty="0"/>
              <a:t>st</a:t>
            </a:r>
            <a:r>
              <a:rPr lang="en-US" sz="1200" dirty="0"/>
              <a:t> choice) or </a:t>
            </a:r>
            <a:r>
              <a:rPr lang="en-US" sz="1200" dirty="0" err="1"/>
              <a:t>cytoscape.js</a:t>
            </a:r>
            <a:r>
              <a:rPr lang="en-US" sz="1200" dirty="0"/>
              <a:t> (2</a:t>
            </a:r>
            <a:r>
              <a:rPr lang="en-US" sz="1200" baseline="30000" dirty="0"/>
              <a:t>nd</a:t>
            </a:r>
            <a:r>
              <a:rPr lang="en-US" sz="1200" dirty="0"/>
              <a:t> choice) exists</a:t>
            </a:r>
          </a:p>
        </p:txBody>
      </p:sp>
      <p:cxnSp>
        <p:nvCxnSpPr>
          <p:cNvPr id="30" name="Elbow Connector 29">
            <a:extLst>
              <a:ext uri="{FF2B5EF4-FFF2-40B4-BE49-F238E27FC236}">
                <a16:creationId xmlns:a16="http://schemas.microsoft.com/office/drawing/2014/main" id="{B2DA8C83-B71C-5D1A-86D7-F725AD41E8D7}"/>
              </a:ext>
            </a:extLst>
          </p:cNvPr>
          <p:cNvCxnSpPr>
            <a:cxnSpLocks/>
            <a:stCxn id="8" idx="2"/>
            <a:endCxn id="7" idx="2"/>
          </p:cNvCxnSpPr>
          <p:nvPr/>
        </p:nvCxnSpPr>
        <p:spPr>
          <a:xfrm rot="5400000">
            <a:off x="6447376" y="2047355"/>
            <a:ext cx="1015968" cy="7809298"/>
          </a:xfrm>
          <a:prstGeom prst="bentConnector3">
            <a:avLst>
              <a:gd name="adj1" fmla="val 12250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710E1A5-F39D-1B53-DC0C-5D95428564A6}"/>
              </a:ext>
            </a:extLst>
          </p:cNvPr>
          <p:cNvSpPr txBox="1"/>
          <p:nvPr/>
        </p:nvSpPr>
        <p:spPr>
          <a:xfrm>
            <a:off x="7141697" y="6190783"/>
            <a:ext cx="3705726" cy="461665"/>
          </a:xfrm>
          <a:prstGeom prst="rect">
            <a:avLst/>
          </a:prstGeom>
          <a:noFill/>
        </p:spPr>
        <p:txBody>
          <a:bodyPr wrap="square" rtlCol="0">
            <a:spAutoFit/>
          </a:bodyPr>
          <a:lstStyle/>
          <a:p>
            <a:pPr algn="ctr"/>
            <a:r>
              <a:rPr lang="en-US" sz="1200" dirty="0"/>
              <a:t>User edited diagram is persisted in </a:t>
            </a:r>
            <a:r>
              <a:rPr lang="en-US" sz="1200" dirty="0" err="1"/>
              <a:t>cytospape.js</a:t>
            </a:r>
            <a:r>
              <a:rPr lang="en-US" sz="1200" dirty="0"/>
              <a:t> </a:t>
            </a:r>
            <a:r>
              <a:rPr lang="en-US" sz="1200" dirty="0" err="1"/>
              <a:t>json</a:t>
            </a:r>
            <a:r>
              <a:rPr lang="en-US" sz="1200" dirty="0"/>
              <a:t> at user’s staged space (other users cannot see edits)</a:t>
            </a:r>
          </a:p>
        </p:txBody>
      </p:sp>
      <p:cxnSp>
        <p:nvCxnSpPr>
          <p:cNvPr id="35" name="Elbow Connector 34">
            <a:extLst>
              <a:ext uri="{FF2B5EF4-FFF2-40B4-BE49-F238E27FC236}">
                <a16:creationId xmlns:a16="http://schemas.microsoft.com/office/drawing/2014/main" id="{B0B05B72-FA49-220F-A08B-DBEC850E46B5}"/>
              </a:ext>
            </a:extLst>
          </p:cNvPr>
          <p:cNvCxnSpPr>
            <a:cxnSpLocks/>
            <a:stCxn id="8" idx="1"/>
            <a:endCxn id="7" idx="3"/>
          </p:cNvCxnSpPr>
          <p:nvPr/>
        </p:nvCxnSpPr>
        <p:spPr>
          <a:xfrm rot="10800000" flipV="1">
            <a:off x="3945861" y="4620260"/>
            <a:ext cx="5864995" cy="1608722"/>
          </a:xfrm>
          <a:prstGeom prst="bentConnector3">
            <a:avLst>
              <a:gd name="adj1" fmla="val 50000"/>
            </a:avLst>
          </a:prstGeom>
          <a:ln w="12700">
            <a:headEnd type="triangle"/>
            <a:tailEnd type="non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F1DD6248-E3AE-73EC-7EDD-80A35267DB97}"/>
              </a:ext>
            </a:extLst>
          </p:cNvPr>
          <p:cNvSpPr txBox="1"/>
          <p:nvPr/>
        </p:nvSpPr>
        <p:spPr>
          <a:xfrm>
            <a:off x="7604913" y="4359785"/>
            <a:ext cx="1251587" cy="276999"/>
          </a:xfrm>
          <a:prstGeom prst="rect">
            <a:avLst/>
          </a:prstGeom>
          <a:noFill/>
        </p:spPr>
        <p:txBody>
          <a:bodyPr wrap="square" rtlCol="0">
            <a:spAutoFit/>
          </a:bodyPr>
          <a:lstStyle/>
          <a:p>
            <a:pPr algn="ctr"/>
            <a:r>
              <a:rPr lang="en-US" sz="1200" dirty="0"/>
              <a:t>Load for editing</a:t>
            </a:r>
          </a:p>
        </p:txBody>
      </p:sp>
      <p:sp>
        <p:nvSpPr>
          <p:cNvPr id="44" name="Rectangle 43">
            <a:extLst>
              <a:ext uri="{FF2B5EF4-FFF2-40B4-BE49-F238E27FC236}">
                <a16:creationId xmlns:a16="http://schemas.microsoft.com/office/drawing/2014/main" id="{00E2DB7A-04CC-4A92-E9AD-84B5F8A8DF6F}"/>
              </a:ext>
            </a:extLst>
          </p:cNvPr>
          <p:cNvSpPr/>
          <p:nvPr/>
        </p:nvSpPr>
        <p:spPr>
          <a:xfrm>
            <a:off x="2155562" y="4389381"/>
            <a:ext cx="1790298" cy="46201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err="1"/>
              <a:t>Cytoscape.js</a:t>
            </a:r>
            <a:r>
              <a:rPr lang="en-US" sz="1400" dirty="0"/>
              <a:t> </a:t>
            </a:r>
            <a:r>
              <a:rPr lang="en-US" sz="1400" dirty="0" err="1"/>
              <a:t>json</a:t>
            </a:r>
            <a:r>
              <a:rPr lang="en-US" sz="1400" dirty="0"/>
              <a:t> (</a:t>
            </a:r>
            <a:r>
              <a:rPr lang="en-US" sz="1400" dirty="0" err="1"/>
              <a:t>PathwayDiagram</a:t>
            </a:r>
            <a:r>
              <a:rPr lang="en-US" sz="1400" dirty="0"/>
              <a:t>)</a:t>
            </a:r>
          </a:p>
        </p:txBody>
      </p:sp>
      <p:cxnSp>
        <p:nvCxnSpPr>
          <p:cNvPr id="67" name="Elbow Connector 66">
            <a:extLst>
              <a:ext uri="{FF2B5EF4-FFF2-40B4-BE49-F238E27FC236}">
                <a16:creationId xmlns:a16="http://schemas.microsoft.com/office/drawing/2014/main" id="{792E8D05-E4F7-34A8-8399-5C54F79B39EC}"/>
              </a:ext>
            </a:extLst>
          </p:cNvPr>
          <p:cNvCxnSpPr>
            <a:cxnSpLocks/>
            <a:stCxn id="44" idx="3"/>
            <a:endCxn id="8" idx="1"/>
          </p:cNvCxnSpPr>
          <p:nvPr/>
        </p:nvCxnSpPr>
        <p:spPr>
          <a:xfrm flipV="1">
            <a:off x="3945860" y="4620260"/>
            <a:ext cx="5864995" cy="127"/>
          </a:xfrm>
          <a:prstGeom prst="bent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8" name="Elbow Connector 67">
            <a:extLst>
              <a:ext uri="{FF2B5EF4-FFF2-40B4-BE49-F238E27FC236}">
                <a16:creationId xmlns:a16="http://schemas.microsoft.com/office/drawing/2014/main" id="{64AEB863-7CC0-0C49-5C71-6F7694EEDA58}"/>
              </a:ext>
            </a:extLst>
          </p:cNvPr>
          <p:cNvCxnSpPr>
            <a:cxnSpLocks/>
            <a:stCxn id="5" idx="3"/>
            <a:endCxn id="8" idx="0"/>
          </p:cNvCxnSpPr>
          <p:nvPr/>
        </p:nvCxnSpPr>
        <p:spPr>
          <a:xfrm>
            <a:off x="5700025" y="3689547"/>
            <a:ext cx="5159984" cy="106952"/>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8983B5CC-5A25-6213-21A7-C2BF434E6346}"/>
              </a:ext>
            </a:extLst>
          </p:cNvPr>
          <p:cNvSpPr txBox="1"/>
          <p:nvPr/>
        </p:nvSpPr>
        <p:spPr>
          <a:xfrm>
            <a:off x="4189704" y="5946219"/>
            <a:ext cx="1673790" cy="276999"/>
          </a:xfrm>
          <a:prstGeom prst="rect">
            <a:avLst/>
          </a:prstGeom>
          <a:noFill/>
        </p:spPr>
        <p:txBody>
          <a:bodyPr wrap="square" rtlCol="0">
            <a:spAutoFit/>
          </a:bodyPr>
          <a:lstStyle/>
          <a:p>
            <a:pPr algn="ctr"/>
            <a:r>
              <a:rPr lang="en-US" sz="1200" dirty="0"/>
              <a:t>First choice for editing</a:t>
            </a:r>
          </a:p>
        </p:txBody>
      </p:sp>
      <p:sp>
        <p:nvSpPr>
          <p:cNvPr id="79" name="TextBox 78">
            <a:extLst>
              <a:ext uri="{FF2B5EF4-FFF2-40B4-BE49-F238E27FC236}">
                <a16:creationId xmlns:a16="http://schemas.microsoft.com/office/drawing/2014/main" id="{AB9DA9C6-7B40-A1E0-9F49-E38E7321899A}"/>
              </a:ext>
            </a:extLst>
          </p:cNvPr>
          <p:cNvSpPr txBox="1"/>
          <p:nvPr/>
        </p:nvSpPr>
        <p:spPr>
          <a:xfrm>
            <a:off x="3945860" y="4589573"/>
            <a:ext cx="2098306" cy="276999"/>
          </a:xfrm>
          <a:prstGeom prst="rect">
            <a:avLst/>
          </a:prstGeom>
          <a:noFill/>
        </p:spPr>
        <p:txBody>
          <a:bodyPr wrap="square" rtlCol="0">
            <a:spAutoFit/>
          </a:bodyPr>
          <a:lstStyle/>
          <a:p>
            <a:pPr algn="ctr"/>
            <a:r>
              <a:rPr lang="en-US" sz="1200" dirty="0"/>
              <a:t>Second choice for editing</a:t>
            </a:r>
          </a:p>
        </p:txBody>
      </p:sp>
      <p:cxnSp>
        <p:nvCxnSpPr>
          <p:cNvPr id="82" name="Elbow Connector 81">
            <a:extLst>
              <a:ext uri="{FF2B5EF4-FFF2-40B4-BE49-F238E27FC236}">
                <a16:creationId xmlns:a16="http://schemas.microsoft.com/office/drawing/2014/main" id="{C75921DB-0DFA-42C9-53FD-74C3DED2221B}"/>
              </a:ext>
            </a:extLst>
          </p:cNvPr>
          <p:cNvCxnSpPr>
            <a:cxnSpLocks/>
            <a:stCxn id="8" idx="2"/>
            <a:endCxn id="44" idx="2"/>
          </p:cNvCxnSpPr>
          <p:nvPr/>
        </p:nvCxnSpPr>
        <p:spPr>
          <a:xfrm rot="5400000" flipH="1">
            <a:off x="6659046" y="1243058"/>
            <a:ext cx="592627" cy="7809298"/>
          </a:xfrm>
          <a:prstGeom prst="bentConnector3">
            <a:avLst>
              <a:gd name="adj1" fmla="val -38574"/>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Elbow Connector 83">
            <a:extLst>
              <a:ext uri="{FF2B5EF4-FFF2-40B4-BE49-F238E27FC236}">
                <a16:creationId xmlns:a16="http://schemas.microsoft.com/office/drawing/2014/main" id="{101BE050-1A82-45E7-8432-C080D7EC58EF}"/>
              </a:ext>
            </a:extLst>
          </p:cNvPr>
          <p:cNvCxnSpPr>
            <a:cxnSpLocks/>
            <a:stCxn id="44" idx="0"/>
            <a:endCxn id="6" idx="2"/>
          </p:cNvCxnSpPr>
          <p:nvPr/>
        </p:nvCxnSpPr>
        <p:spPr>
          <a:xfrm rot="5400000" flipH="1" flipV="1">
            <a:off x="2756007" y="2633243"/>
            <a:ext cx="2050843" cy="1461435"/>
          </a:xfrm>
          <a:prstGeom prst="bentConnector3">
            <a:avLst>
              <a:gd name="adj1" fmla="val 50000"/>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7" name="Elbow Connector 86">
            <a:extLst>
              <a:ext uri="{FF2B5EF4-FFF2-40B4-BE49-F238E27FC236}">
                <a16:creationId xmlns:a16="http://schemas.microsoft.com/office/drawing/2014/main" id="{DEE6C8BD-B5E9-B36F-89C0-B1AEC50BA5E1}"/>
              </a:ext>
            </a:extLst>
          </p:cNvPr>
          <p:cNvCxnSpPr>
            <a:cxnSpLocks/>
            <a:stCxn id="44" idx="0"/>
            <a:endCxn id="4" idx="2"/>
          </p:cNvCxnSpPr>
          <p:nvPr/>
        </p:nvCxnSpPr>
        <p:spPr>
          <a:xfrm rot="16200000" flipV="1">
            <a:off x="1297780" y="2636450"/>
            <a:ext cx="2050842" cy="1455020"/>
          </a:xfrm>
          <a:prstGeom prst="bentConnector3">
            <a:avLst>
              <a:gd name="adj1" fmla="val 50000"/>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228712EB-6F74-75DE-A4F5-D1FFAE77CFAF}"/>
              </a:ext>
            </a:extLst>
          </p:cNvPr>
          <p:cNvCxnSpPr>
            <a:cxnSpLocks/>
            <a:stCxn id="8" idx="2"/>
            <a:endCxn id="11" idx="2"/>
          </p:cNvCxnSpPr>
          <p:nvPr/>
        </p:nvCxnSpPr>
        <p:spPr>
          <a:xfrm rot="5400000" flipH="1">
            <a:off x="5756853" y="340865"/>
            <a:ext cx="1327765" cy="8878546"/>
          </a:xfrm>
          <a:prstGeom prst="bentConnector3">
            <a:avLst>
              <a:gd name="adj1" fmla="val -17217"/>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Elbow Connector 92">
            <a:extLst>
              <a:ext uri="{FF2B5EF4-FFF2-40B4-BE49-F238E27FC236}">
                <a16:creationId xmlns:a16="http://schemas.microsoft.com/office/drawing/2014/main" id="{CE7FADC4-6A3E-14D6-3278-D66E124D0D76}"/>
              </a:ext>
            </a:extLst>
          </p:cNvPr>
          <p:cNvCxnSpPr>
            <a:cxnSpLocks/>
            <a:stCxn id="8" idx="2"/>
            <a:endCxn id="7" idx="0"/>
          </p:cNvCxnSpPr>
          <p:nvPr/>
        </p:nvCxnSpPr>
        <p:spPr>
          <a:xfrm rot="5400000">
            <a:off x="6678382" y="1816349"/>
            <a:ext cx="553956" cy="7809298"/>
          </a:xfrm>
          <a:prstGeom prst="bentConnector3">
            <a:avLst>
              <a:gd name="adj1" fmla="val 41312"/>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D1414A40-FB10-5CE8-F48B-3487C7C1C2C6}"/>
              </a:ext>
            </a:extLst>
          </p:cNvPr>
          <p:cNvSpPr txBox="1"/>
          <p:nvPr/>
        </p:nvSpPr>
        <p:spPr>
          <a:xfrm>
            <a:off x="500016" y="6785357"/>
            <a:ext cx="10359992" cy="1015663"/>
          </a:xfrm>
          <a:prstGeom prst="rect">
            <a:avLst/>
          </a:prstGeom>
          <a:noFill/>
        </p:spPr>
        <p:txBody>
          <a:bodyPr wrap="square" rtlCol="0">
            <a:spAutoFit/>
          </a:bodyPr>
          <a:lstStyle/>
          <a:p>
            <a:r>
              <a:rPr lang="en-US" sz="1200" dirty="0"/>
              <a:t>When upload diagram is called (red arrows), the following occurs:</a:t>
            </a:r>
          </a:p>
          <a:p>
            <a:pPr marL="228600" indent="-228600">
              <a:buFont typeface="+mj-lt"/>
              <a:buAutoNum type="arabicPeriod"/>
            </a:pPr>
            <a:r>
              <a:rPr lang="en-US" sz="1200" dirty="0"/>
              <a:t>Upload </a:t>
            </a:r>
            <a:r>
              <a:rPr lang="en-US" sz="1200" dirty="0" err="1"/>
              <a:t>cytoscape.js</a:t>
            </a:r>
            <a:r>
              <a:rPr lang="en-US" sz="1200" dirty="0"/>
              <a:t> </a:t>
            </a:r>
            <a:r>
              <a:rPr lang="en-US" sz="1200" dirty="0" err="1"/>
              <a:t>json</a:t>
            </a:r>
            <a:r>
              <a:rPr lang="en-US" sz="1200" dirty="0"/>
              <a:t> to the central space (saved in a shared file), enabling other users to edit the same pathway diagram</a:t>
            </a:r>
          </a:p>
          <a:p>
            <a:pPr marL="228600" indent="-228600">
              <a:buFont typeface="+mj-lt"/>
              <a:buAutoNum type="arabicPeriod"/>
            </a:pPr>
            <a:r>
              <a:rPr lang="en-US" sz="1200" dirty="0"/>
              <a:t>Create or update </a:t>
            </a:r>
            <a:r>
              <a:rPr lang="en-US" sz="1200" dirty="0" err="1"/>
              <a:t>PathwayDiagram</a:t>
            </a:r>
            <a:r>
              <a:rPr lang="en-US" sz="1200" dirty="0"/>
              <a:t> instance associated with this </a:t>
            </a:r>
            <a:r>
              <a:rPr lang="en-US" sz="1200" dirty="0" err="1"/>
              <a:t>cytoscape.js</a:t>
            </a:r>
            <a:r>
              <a:rPr lang="en-US" sz="1200" dirty="0"/>
              <a:t> </a:t>
            </a:r>
          </a:p>
          <a:p>
            <a:pPr marL="228600" indent="-228600">
              <a:buFont typeface="+mj-lt"/>
              <a:buAutoNum type="arabicPeriod"/>
            </a:pPr>
            <a:r>
              <a:rPr lang="en-US" sz="1200" dirty="0"/>
              <a:t>Generate diagram </a:t>
            </a:r>
            <a:r>
              <a:rPr lang="en-US" sz="1200" dirty="0" err="1"/>
              <a:t>json</a:t>
            </a:r>
            <a:r>
              <a:rPr lang="en-US" sz="1200" dirty="0"/>
              <a:t> files for the represented pathways, including both normal and disease pathways if applicable</a:t>
            </a:r>
          </a:p>
          <a:p>
            <a:pPr marL="228600" indent="-228600">
              <a:buFont typeface="+mj-lt"/>
              <a:buAutoNum type="arabicPeriod"/>
            </a:pPr>
            <a:r>
              <a:rPr lang="en-US" sz="1200" dirty="0"/>
              <a:t>Delete the </a:t>
            </a:r>
            <a:r>
              <a:rPr lang="en-US" sz="1200" dirty="0" err="1"/>
              <a:t>cytoscape.js</a:t>
            </a:r>
            <a:r>
              <a:rPr lang="en-US" sz="1200" dirty="0"/>
              <a:t> </a:t>
            </a:r>
            <a:r>
              <a:rPr lang="en-US" sz="1200" dirty="0" err="1"/>
              <a:t>json</a:t>
            </a:r>
            <a:r>
              <a:rPr lang="en-US" sz="1200" dirty="0"/>
              <a:t> at the user staged space.</a:t>
            </a:r>
          </a:p>
        </p:txBody>
      </p:sp>
      <p:sp>
        <p:nvSpPr>
          <p:cNvPr id="115" name="TextBox 114">
            <a:extLst>
              <a:ext uri="{FF2B5EF4-FFF2-40B4-BE49-F238E27FC236}">
                <a16:creationId xmlns:a16="http://schemas.microsoft.com/office/drawing/2014/main" id="{62EC0A3A-D36C-B614-5E3E-780141474D30}"/>
              </a:ext>
            </a:extLst>
          </p:cNvPr>
          <p:cNvSpPr txBox="1"/>
          <p:nvPr/>
        </p:nvSpPr>
        <p:spPr>
          <a:xfrm>
            <a:off x="3037287" y="5715681"/>
            <a:ext cx="579710" cy="276999"/>
          </a:xfrm>
          <a:prstGeom prst="rect">
            <a:avLst/>
          </a:prstGeom>
          <a:noFill/>
        </p:spPr>
        <p:txBody>
          <a:bodyPr wrap="none" rtlCol="0">
            <a:spAutoFit/>
          </a:bodyPr>
          <a:lstStyle/>
          <a:p>
            <a:r>
              <a:rPr lang="en-US" sz="1200" dirty="0"/>
              <a:t>delete</a:t>
            </a:r>
          </a:p>
        </p:txBody>
      </p:sp>
      <p:sp>
        <p:nvSpPr>
          <p:cNvPr id="116" name="TextBox 115">
            <a:extLst>
              <a:ext uri="{FF2B5EF4-FFF2-40B4-BE49-F238E27FC236}">
                <a16:creationId xmlns:a16="http://schemas.microsoft.com/office/drawing/2014/main" id="{A218DF8B-365B-C983-C6FE-4DC0DAA8C778}"/>
              </a:ext>
            </a:extLst>
          </p:cNvPr>
          <p:cNvSpPr txBox="1"/>
          <p:nvPr/>
        </p:nvSpPr>
        <p:spPr>
          <a:xfrm>
            <a:off x="3013297" y="5186194"/>
            <a:ext cx="615874" cy="276999"/>
          </a:xfrm>
          <a:prstGeom prst="rect">
            <a:avLst/>
          </a:prstGeom>
          <a:noFill/>
        </p:spPr>
        <p:txBody>
          <a:bodyPr wrap="none" rtlCol="0">
            <a:spAutoFit/>
          </a:bodyPr>
          <a:lstStyle/>
          <a:p>
            <a:r>
              <a:rPr lang="en-US" sz="1200" dirty="0"/>
              <a:t>upload</a:t>
            </a:r>
          </a:p>
        </p:txBody>
      </p:sp>
      <p:sp>
        <p:nvSpPr>
          <p:cNvPr id="117" name="TextBox 116">
            <a:extLst>
              <a:ext uri="{FF2B5EF4-FFF2-40B4-BE49-F238E27FC236}">
                <a16:creationId xmlns:a16="http://schemas.microsoft.com/office/drawing/2014/main" id="{E7EEE61A-5C4F-C111-80B9-2083D0733253}"/>
              </a:ext>
            </a:extLst>
          </p:cNvPr>
          <p:cNvSpPr txBox="1"/>
          <p:nvPr/>
        </p:nvSpPr>
        <p:spPr>
          <a:xfrm>
            <a:off x="1916875" y="5071536"/>
            <a:ext cx="750670" cy="461665"/>
          </a:xfrm>
          <a:prstGeom prst="rect">
            <a:avLst/>
          </a:prstGeom>
          <a:noFill/>
        </p:spPr>
        <p:txBody>
          <a:bodyPr wrap="square" rtlCol="0">
            <a:spAutoFit/>
          </a:bodyPr>
          <a:lstStyle/>
          <a:p>
            <a:pPr algn="ctr"/>
            <a:r>
              <a:rPr lang="en-US" sz="1200" dirty="0"/>
              <a:t>create or modify</a:t>
            </a:r>
          </a:p>
        </p:txBody>
      </p:sp>
      <p:sp>
        <p:nvSpPr>
          <p:cNvPr id="118" name="TextBox 117">
            <a:extLst>
              <a:ext uri="{FF2B5EF4-FFF2-40B4-BE49-F238E27FC236}">
                <a16:creationId xmlns:a16="http://schemas.microsoft.com/office/drawing/2014/main" id="{D6025849-C119-76D6-48E6-FF9D2173270C}"/>
              </a:ext>
            </a:extLst>
          </p:cNvPr>
          <p:cNvSpPr txBox="1"/>
          <p:nvPr/>
        </p:nvSpPr>
        <p:spPr>
          <a:xfrm>
            <a:off x="3003067" y="3718421"/>
            <a:ext cx="750670" cy="276999"/>
          </a:xfrm>
          <a:prstGeom prst="rect">
            <a:avLst/>
          </a:prstGeom>
          <a:noFill/>
        </p:spPr>
        <p:txBody>
          <a:bodyPr wrap="square" rtlCol="0">
            <a:spAutoFit/>
          </a:bodyPr>
          <a:lstStyle/>
          <a:p>
            <a:pPr algn="ctr"/>
            <a:r>
              <a:rPr lang="en-US" sz="1200" dirty="0"/>
              <a:t>generate</a:t>
            </a:r>
          </a:p>
        </p:txBody>
      </p:sp>
      <p:sp>
        <p:nvSpPr>
          <p:cNvPr id="2" name="TextBox 1">
            <a:extLst>
              <a:ext uri="{FF2B5EF4-FFF2-40B4-BE49-F238E27FC236}">
                <a16:creationId xmlns:a16="http://schemas.microsoft.com/office/drawing/2014/main" id="{3210A7A0-5A80-4A13-2CBC-171F39025858}"/>
              </a:ext>
            </a:extLst>
          </p:cNvPr>
          <p:cNvSpPr txBox="1"/>
          <p:nvPr/>
        </p:nvSpPr>
        <p:spPr>
          <a:xfrm>
            <a:off x="394266" y="8196190"/>
            <a:ext cx="11204176" cy="646331"/>
          </a:xfrm>
          <a:prstGeom prst="rect">
            <a:avLst/>
          </a:prstGeom>
          <a:noFill/>
        </p:spPr>
        <p:txBody>
          <a:bodyPr wrap="square" rtlCol="0">
            <a:spAutoFit/>
          </a:bodyPr>
          <a:lstStyle/>
          <a:p>
            <a:r>
              <a:rPr lang="en-US" dirty="0"/>
              <a:t>*: To be implemented in the future. This scheme is too complicated to implement for the time being. See the implementation of shared persistence in the next slide. </a:t>
            </a:r>
          </a:p>
        </p:txBody>
      </p:sp>
    </p:spTree>
    <p:extLst>
      <p:ext uri="{BB962C8B-B14F-4D97-AF65-F5344CB8AC3E}">
        <p14:creationId xmlns:p14="http://schemas.microsoft.com/office/powerpoint/2010/main" val="4189275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16064-4D58-2187-D546-D1A5168AB95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1DDB144-ABBE-455A-EBE0-8CE51192667C}"/>
              </a:ext>
            </a:extLst>
          </p:cNvPr>
          <p:cNvSpPr/>
          <p:nvPr/>
        </p:nvSpPr>
        <p:spPr>
          <a:xfrm>
            <a:off x="700542" y="1876527"/>
            <a:ext cx="1790298" cy="4620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Diagram </a:t>
            </a:r>
            <a:r>
              <a:rPr lang="en-US" sz="1400" dirty="0" err="1"/>
              <a:t>json</a:t>
            </a:r>
            <a:r>
              <a:rPr lang="en-US" sz="1400" dirty="0"/>
              <a:t> (Pathway - normal)</a:t>
            </a:r>
          </a:p>
        </p:txBody>
      </p:sp>
      <p:sp>
        <p:nvSpPr>
          <p:cNvPr id="5" name="Rectangle 4">
            <a:extLst>
              <a:ext uri="{FF2B5EF4-FFF2-40B4-BE49-F238E27FC236}">
                <a16:creationId xmlns:a16="http://schemas.microsoft.com/office/drawing/2014/main" id="{59F23337-E2E9-3763-5A65-F9F151E4C443}"/>
              </a:ext>
            </a:extLst>
          </p:cNvPr>
          <p:cNvSpPr/>
          <p:nvPr/>
        </p:nvSpPr>
        <p:spPr>
          <a:xfrm>
            <a:off x="3909727" y="3458541"/>
            <a:ext cx="1790298" cy="46201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Diagram </a:t>
            </a:r>
            <a:r>
              <a:rPr lang="en-US" sz="1400" dirty="0" err="1"/>
              <a:t>json</a:t>
            </a:r>
            <a:r>
              <a:rPr lang="en-US" sz="1400" dirty="0"/>
              <a:t> (</a:t>
            </a:r>
            <a:r>
              <a:rPr lang="en-US" sz="1400" dirty="0" err="1"/>
              <a:t>PathwayDiagram</a:t>
            </a:r>
            <a:r>
              <a:rPr lang="en-US" sz="1400" dirty="0"/>
              <a:t>)</a:t>
            </a:r>
          </a:p>
        </p:txBody>
      </p:sp>
      <p:sp>
        <p:nvSpPr>
          <p:cNvPr id="6" name="Rectangle 5">
            <a:extLst>
              <a:ext uri="{FF2B5EF4-FFF2-40B4-BE49-F238E27FC236}">
                <a16:creationId xmlns:a16="http://schemas.microsoft.com/office/drawing/2014/main" id="{E6A88C66-2645-6DB4-F3FE-53B121503692}"/>
              </a:ext>
            </a:extLst>
          </p:cNvPr>
          <p:cNvSpPr/>
          <p:nvPr/>
        </p:nvSpPr>
        <p:spPr>
          <a:xfrm>
            <a:off x="3616997" y="1876526"/>
            <a:ext cx="1790298" cy="4620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Diagram </a:t>
            </a:r>
            <a:r>
              <a:rPr lang="en-US" sz="1400" dirty="0" err="1"/>
              <a:t>json</a:t>
            </a:r>
            <a:r>
              <a:rPr lang="en-US" sz="1400" dirty="0"/>
              <a:t> (Pathway - disease)</a:t>
            </a:r>
          </a:p>
        </p:txBody>
      </p:sp>
      <p:sp>
        <p:nvSpPr>
          <p:cNvPr id="8" name="Rectangle 7">
            <a:extLst>
              <a:ext uri="{FF2B5EF4-FFF2-40B4-BE49-F238E27FC236}">
                <a16:creationId xmlns:a16="http://schemas.microsoft.com/office/drawing/2014/main" id="{FA6B54A0-3EED-A485-BBC3-2B45E97FD46A}"/>
              </a:ext>
            </a:extLst>
          </p:cNvPr>
          <p:cNvSpPr/>
          <p:nvPr/>
        </p:nvSpPr>
        <p:spPr>
          <a:xfrm>
            <a:off x="9810855" y="3796499"/>
            <a:ext cx="2098307" cy="164752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PathwayDiagram</a:t>
            </a:r>
            <a:r>
              <a:rPr lang="en-US" dirty="0"/>
              <a:t> Widget (</a:t>
            </a:r>
            <a:r>
              <a:rPr lang="en-US" dirty="0" err="1"/>
              <a:t>cytoscape.js</a:t>
            </a:r>
            <a:r>
              <a:rPr lang="en-US" dirty="0"/>
              <a:t>)</a:t>
            </a:r>
          </a:p>
        </p:txBody>
      </p:sp>
      <p:sp>
        <p:nvSpPr>
          <p:cNvPr id="9" name="Rectangle 8">
            <a:extLst>
              <a:ext uri="{FF2B5EF4-FFF2-40B4-BE49-F238E27FC236}">
                <a16:creationId xmlns:a16="http://schemas.microsoft.com/office/drawing/2014/main" id="{62C506DF-51DE-F7FA-73CB-5E611EB7B3CC}"/>
              </a:ext>
            </a:extLst>
          </p:cNvPr>
          <p:cNvSpPr/>
          <p:nvPr/>
        </p:nvSpPr>
        <p:spPr>
          <a:xfrm>
            <a:off x="500016" y="1580543"/>
            <a:ext cx="5592278" cy="4138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7352C8B1-58D6-34FA-19B5-DC10B09B29C0}"/>
              </a:ext>
            </a:extLst>
          </p:cNvPr>
          <p:cNvSpPr/>
          <p:nvPr/>
        </p:nvSpPr>
        <p:spPr>
          <a:xfrm>
            <a:off x="1326142" y="3586866"/>
            <a:ext cx="1310641" cy="529389"/>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PathwayDiagram</a:t>
            </a:r>
            <a:r>
              <a:rPr lang="en-US" sz="1200" dirty="0"/>
              <a:t> (instance)</a:t>
            </a:r>
          </a:p>
        </p:txBody>
      </p:sp>
      <p:sp>
        <p:nvSpPr>
          <p:cNvPr id="12" name="TextBox 11">
            <a:extLst>
              <a:ext uri="{FF2B5EF4-FFF2-40B4-BE49-F238E27FC236}">
                <a16:creationId xmlns:a16="http://schemas.microsoft.com/office/drawing/2014/main" id="{C15669FE-080A-CFFD-48B8-AB8FC11F9EBE}"/>
              </a:ext>
            </a:extLst>
          </p:cNvPr>
          <p:cNvSpPr txBox="1"/>
          <p:nvPr/>
        </p:nvSpPr>
        <p:spPr>
          <a:xfrm>
            <a:off x="455223" y="5186194"/>
            <a:ext cx="1535870" cy="461665"/>
          </a:xfrm>
          <a:prstGeom prst="rect">
            <a:avLst/>
          </a:prstGeom>
          <a:noFill/>
        </p:spPr>
        <p:txBody>
          <a:bodyPr wrap="none" rtlCol="0">
            <a:spAutoFit/>
          </a:bodyPr>
          <a:lstStyle/>
          <a:p>
            <a:pPr algn="ctr"/>
            <a:r>
              <a:rPr lang="en-US" sz="1200" b="1" u="sng" dirty="0"/>
              <a:t>Shared central space </a:t>
            </a:r>
          </a:p>
          <a:p>
            <a:pPr algn="ctr"/>
            <a:r>
              <a:rPr lang="en-US" sz="1200" b="1" u="sng" dirty="0"/>
              <a:t>(</a:t>
            </a:r>
            <a:r>
              <a:rPr lang="en-US" sz="1200" b="1" u="sng" dirty="0" err="1"/>
              <a:t>db</a:t>
            </a:r>
            <a:r>
              <a:rPr lang="en-US" sz="1200" b="1" u="sng" dirty="0"/>
              <a:t> and files)</a:t>
            </a:r>
          </a:p>
        </p:txBody>
      </p:sp>
      <p:cxnSp>
        <p:nvCxnSpPr>
          <p:cNvPr id="15" name="Elbow Connector 14">
            <a:extLst>
              <a:ext uri="{FF2B5EF4-FFF2-40B4-BE49-F238E27FC236}">
                <a16:creationId xmlns:a16="http://schemas.microsoft.com/office/drawing/2014/main" id="{1A5AD7D9-3DD6-F649-2444-822A69EBD974}"/>
              </a:ext>
            </a:extLst>
          </p:cNvPr>
          <p:cNvCxnSpPr>
            <a:cxnSpLocks/>
            <a:stCxn id="8" idx="0"/>
            <a:endCxn id="4" idx="0"/>
          </p:cNvCxnSpPr>
          <p:nvPr/>
        </p:nvCxnSpPr>
        <p:spPr>
          <a:xfrm rot="16200000" flipV="1">
            <a:off x="5267864" y="-1795646"/>
            <a:ext cx="1919972" cy="9264318"/>
          </a:xfrm>
          <a:prstGeom prst="bentConnector3">
            <a:avLst>
              <a:gd name="adj1" fmla="val 111906"/>
            </a:avLst>
          </a:prstGeom>
          <a:ln w="1270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785C53D4-5181-559B-283C-FDFF56429873}"/>
              </a:ext>
            </a:extLst>
          </p:cNvPr>
          <p:cNvCxnSpPr>
            <a:cxnSpLocks/>
            <a:stCxn id="8" idx="0"/>
            <a:endCxn id="6" idx="3"/>
          </p:cNvCxnSpPr>
          <p:nvPr/>
        </p:nvCxnSpPr>
        <p:spPr>
          <a:xfrm rot="16200000" flipV="1">
            <a:off x="7289169" y="225659"/>
            <a:ext cx="1688967" cy="5452714"/>
          </a:xfrm>
          <a:prstGeom prst="bentConnector2">
            <a:avLst/>
          </a:prstGeom>
          <a:ln w="12700">
            <a:headEnd type="triangle"/>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1643BAC-637F-F9C3-F0A1-2B64694EE65E}"/>
              </a:ext>
            </a:extLst>
          </p:cNvPr>
          <p:cNvSpPr txBox="1"/>
          <p:nvPr/>
        </p:nvSpPr>
        <p:spPr>
          <a:xfrm>
            <a:off x="7221033" y="1385158"/>
            <a:ext cx="1504899" cy="276999"/>
          </a:xfrm>
          <a:prstGeom prst="rect">
            <a:avLst/>
          </a:prstGeom>
          <a:noFill/>
        </p:spPr>
        <p:txBody>
          <a:bodyPr wrap="none" rtlCol="0">
            <a:spAutoFit/>
          </a:bodyPr>
          <a:lstStyle/>
          <a:p>
            <a:r>
              <a:rPr lang="en-US" sz="1200" dirty="0"/>
              <a:t>load normal pathway</a:t>
            </a:r>
          </a:p>
        </p:txBody>
      </p:sp>
      <p:sp>
        <p:nvSpPr>
          <p:cNvPr id="20" name="TextBox 19">
            <a:extLst>
              <a:ext uri="{FF2B5EF4-FFF2-40B4-BE49-F238E27FC236}">
                <a16:creationId xmlns:a16="http://schemas.microsoft.com/office/drawing/2014/main" id="{939CB790-45AC-276D-2FD4-9F1E4F5CF6A7}"/>
              </a:ext>
            </a:extLst>
          </p:cNvPr>
          <p:cNvSpPr txBox="1"/>
          <p:nvPr/>
        </p:nvSpPr>
        <p:spPr>
          <a:xfrm>
            <a:off x="6640936" y="1844800"/>
            <a:ext cx="2945329" cy="276999"/>
          </a:xfrm>
          <a:prstGeom prst="rect">
            <a:avLst/>
          </a:prstGeom>
          <a:noFill/>
        </p:spPr>
        <p:txBody>
          <a:bodyPr wrap="square" rtlCol="0">
            <a:spAutoFit/>
          </a:bodyPr>
          <a:lstStyle/>
          <a:p>
            <a:r>
              <a:rPr lang="en-US" sz="1200" dirty="0"/>
              <a:t>load disease pathway (comparison enabled)</a:t>
            </a:r>
          </a:p>
        </p:txBody>
      </p:sp>
      <p:sp>
        <p:nvSpPr>
          <p:cNvPr id="21" name="TextBox 20">
            <a:extLst>
              <a:ext uri="{FF2B5EF4-FFF2-40B4-BE49-F238E27FC236}">
                <a16:creationId xmlns:a16="http://schemas.microsoft.com/office/drawing/2014/main" id="{47484488-4536-D28F-A63F-48659FDBF233}"/>
              </a:ext>
            </a:extLst>
          </p:cNvPr>
          <p:cNvSpPr txBox="1"/>
          <p:nvPr/>
        </p:nvSpPr>
        <p:spPr>
          <a:xfrm>
            <a:off x="9598850" y="2549238"/>
            <a:ext cx="1248573" cy="646331"/>
          </a:xfrm>
          <a:prstGeom prst="rect">
            <a:avLst/>
          </a:prstGeom>
          <a:noFill/>
        </p:spPr>
        <p:txBody>
          <a:bodyPr wrap="square" rtlCol="0">
            <a:spAutoFit/>
          </a:bodyPr>
          <a:lstStyle/>
          <a:p>
            <a:pPr algn="ctr"/>
            <a:r>
              <a:rPr lang="en-US" sz="1200" dirty="0"/>
              <a:t>Convert diagram </a:t>
            </a:r>
            <a:r>
              <a:rPr lang="en-US" sz="1200" dirty="0" err="1"/>
              <a:t>json</a:t>
            </a:r>
            <a:r>
              <a:rPr lang="en-US" sz="1200" dirty="0"/>
              <a:t> to </a:t>
            </a:r>
            <a:r>
              <a:rPr lang="en-US" sz="1200" dirty="0" err="1"/>
              <a:t>cytosacpe.js</a:t>
            </a:r>
            <a:r>
              <a:rPr lang="en-US" sz="1200" dirty="0"/>
              <a:t> </a:t>
            </a:r>
            <a:r>
              <a:rPr lang="en-US" sz="1200" dirty="0" err="1"/>
              <a:t>json</a:t>
            </a:r>
            <a:endParaRPr lang="en-US" sz="1200" dirty="0"/>
          </a:p>
        </p:txBody>
      </p:sp>
      <p:sp>
        <p:nvSpPr>
          <p:cNvPr id="29" name="TextBox 28">
            <a:extLst>
              <a:ext uri="{FF2B5EF4-FFF2-40B4-BE49-F238E27FC236}">
                <a16:creationId xmlns:a16="http://schemas.microsoft.com/office/drawing/2014/main" id="{8EE6CCFA-BC78-4A9B-EC90-2132444EB8CF}"/>
              </a:ext>
            </a:extLst>
          </p:cNvPr>
          <p:cNvSpPr txBox="1"/>
          <p:nvPr/>
        </p:nvSpPr>
        <p:spPr>
          <a:xfrm>
            <a:off x="6481621" y="3056126"/>
            <a:ext cx="3104644" cy="646331"/>
          </a:xfrm>
          <a:prstGeom prst="rect">
            <a:avLst/>
          </a:prstGeom>
          <a:noFill/>
        </p:spPr>
        <p:txBody>
          <a:bodyPr wrap="square" rtlCol="0">
            <a:spAutoFit/>
          </a:bodyPr>
          <a:lstStyle/>
          <a:p>
            <a:pPr algn="ctr"/>
            <a:r>
              <a:rPr lang="en-US" sz="1200" dirty="0"/>
              <a:t>Load </a:t>
            </a:r>
            <a:r>
              <a:rPr lang="en-US" sz="1200" dirty="0" err="1"/>
              <a:t>json</a:t>
            </a:r>
            <a:r>
              <a:rPr lang="en-US" sz="1200" dirty="0"/>
              <a:t> for pathway diagram when ”enable edit” is called if no </a:t>
            </a:r>
            <a:r>
              <a:rPr lang="en-US" sz="1200" dirty="0" err="1"/>
              <a:t>cytoscape.js</a:t>
            </a:r>
            <a:r>
              <a:rPr lang="en-US" sz="1200" dirty="0"/>
              <a:t> (1st choice) exists</a:t>
            </a:r>
          </a:p>
        </p:txBody>
      </p:sp>
      <p:sp>
        <p:nvSpPr>
          <p:cNvPr id="40" name="TextBox 39">
            <a:extLst>
              <a:ext uri="{FF2B5EF4-FFF2-40B4-BE49-F238E27FC236}">
                <a16:creationId xmlns:a16="http://schemas.microsoft.com/office/drawing/2014/main" id="{50F950DB-BEB3-86C5-2122-EEE16D81FF4B}"/>
              </a:ext>
            </a:extLst>
          </p:cNvPr>
          <p:cNvSpPr txBox="1"/>
          <p:nvPr/>
        </p:nvSpPr>
        <p:spPr>
          <a:xfrm>
            <a:off x="7604913" y="4359785"/>
            <a:ext cx="1251587" cy="276999"/>
          </a:xfrm>
          <a:prstGeom prst="rect">
            <a:avLst/>
          </a:prstGeom>
          <a:noFill/>
        </p:spPr>
        <p:txBody>
          <a:bodyPr wrap="square" rtlCol="0">
            <a:spAutoFit/>
          </a:bodyPr>
          <a:lstStyle/>
          <a:p>
            <a:pPr algn="ctr"/>
            <a:r>
              <a:rPr lang="en-US" sz="1200" dirty="0"/>
              <a:t>Load for editing</a:t>
            </a:r>
          </a:p>
        </p:txBody>
      </p:sp>
      <p:sp>
        <p:nvSpPr>
          <p:cNvPr id="44" name="Rectangle 43">
            <a:extLst>
              <a:ext uri="{FF2B5EF4-FFF2-40B4-BE49-F238E27FC236}">
                <a16:creationId xmlns:a16="http://schemas.microsoft.com/office/drawing/2014/main" id="{A306D982-1004-F78C-F3A2-995555AD4831}"/>
              </a:ext>
            </a:extLst>
          </p:cNvPr>
          <p:cNvSpPr/>
          <p:nvPr/>
        </p:nvSpPr>
        <p:spPr>
          <a:xfrm>
            <a:off x="2155562" y="4389381"/>
            <a:ext cx="1790298" cy="46201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err="1"/>
              <a:t>Cytoscape.js</a:t>
            </a:r>
            <a:r>
              <a:rPr lang="en-US" sz="1400" dirty="0"/>
              <a:t> </a:t>
            </a:r>
            <a:r>
              <a:rPr lang="en-US" sz="1400" dirty="0" err="1"/>
              <a:t>json</a:t>
            </a:r>
            <a:r>
              <a:rPr lang="en-US" sz="1400" dirty="0"/>
              <a:t> (</a:t>
            </a:r>
            <a:r>
              <a:rPr lang="en-US" sz="1400" dirty="0" err="1"/>
              <a:t>PathwayDiagram</a:t>
            </a:r>
            <a:r>
              <a:rPr lang="en-US" sz="1400" dirty="0"/>
              <a:t>)</a:t>
            </a:r>
          </a:p>
        </p:txBody>
      </p:sp>
      <p:cxnSp>
        <p:nvCxnSpPr>
          <p:cNvPr id="67" name="Elbow Connector 66">
            <a:extLst>
              <a:ext uri="{FF2B5EF4-FFF2-40B4-BE49-F238E27FC236}">
                <a16:creationId xmlns:a16="http://schemas.microsoft.com/office/drawing/2014/main" id="{4C8CCFC8-A6EB-55C3-9098-6723B0875B6C}"/>
              </a:ext>
            </a:extLst>
          </p:cNvPr>
          <p:cNvCxnSpPr>
            <a:cxnSpLocks/>
            <a:stCxn id="44" idx="3"/>
            <a:endCxn id="8" idx="1"/>
          </p:cNvCxnSpPr>
          <p:nvPr/>
        </p:nvCxnSpPr>
        <p:spPr>
          <a:xfrm flipV="1">
            <a:off x="3945860" y="4620260"/>
            <a:ext cx="5864995" cy="127"/>
          </a:xfrm>
          <a:prstGeom prst="bent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8" name="Elbow Connector 67">
            <a:extLst>
              <a:ext uri="{FF2B5EF4-FFF2-40B4-BE49-F238E27FC236}">
                <a16:creationId xmlns:a16="http://schemas.microsoft.com/office/drawing/2014/main" id="{245C81A4-918E-52C4-03D3-78DF5509949C}"/>
              </a:ext>
            </a:extLst>
          </p:cNvPr>
          <p:cNvCxnSpPr>
            <a:cxnSpLocks/>
            <a:stCxn id="5" idx="3"/>
            <a:endCxn id="8" idx="0"/>
          </p:cNvCxnSpPr>
          <p:nvPr/>
        </p:nvCxnSpPr>
        <p:spPr>
          <a:xfrm>
            <a:off x="5700025" y="3689547"/>
            <a:ext cx="5159984" cy="106952"/>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DFA5DDF6-D9B3-F4B8-92DE-6D6F1CD19F95}"/>
              </a:ext>
            </a:extLst>
          </p:cNvPr>
          <p:cNvSpPr txBox="1"/>
          <p:nvPr/>
        </p:nvSpPr>
        <p:spPr>
          <a:xfrm>
            <a:off x="3945860" y="4589573"/>
            <a:ext cx="2098306" cy="276999"/>
          </a:xfrm>
          <a:prstGeom prst="rect">
            <a:avLst/>
          </a:prstGeom>
          <a:noFill/>
        </p:spPr>
        <p:txBody>
          <a:bodyPr wrap="square" rtlCol="0">
            <a:spAutoFit/>
          </a:bodyPr>
          <a:lstStyle/>
          <a:p>
            <a:pPr algn="ctr"/>
            <a:r>
              <a:rPr lang="en-US" sz="1200" dirty="0"/>
              <a:t>first choice for editing</a:t>
            </a:r>
          </a:p>
        </p:txBody>
      </p:sp>
      <p:cxnSp>
        <p:nvCxnSpPr>
          <p:cNvPr id="84" name="Elbow Connector 83">
            <a:extLst>
              <a:ext uri="{FF2B5EF4-FFF2-40B4-BE49-F238E27FC236}">
                <a16:creationId xmlns:a16="http://schemas.microsoft.com/office/drawing/2014/main" id="{E126A007-9DDB-B367-C36C-A6900661FEC4}"/>
              </a:ext>
            </a:extLst>
          </p:cNvPr>
          <p:cNvCxnSpPr>
            <a:cxnSpLocks/>
            <a:stCxn id="44" idx="0"/>
            <a:endCxn id="6" idx="2"/>
          </p:cNvCxnSpPr>
          <p:nvPr/>
        </p:nvCxnSpPr>
        <p:spPr>
          <a:xfrm rot="5400000" flipH="1" flipV="1">
            <a:off x="2756007" y="2633243"/>
            <a:ext cx="2050843" cy="1461435"/>
          </a:xfrm>
          <a:prstGeom prst="bentConnector3">
            <a:avLst>
              <a:gd name="adj1" fmla="val 50000"/>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7" name="Elbow Connector 86">
            <a:extLst>
              <a:ext uri="{FF2B5EF4-FFF2-40B4-BE49-F238E27FC236}">
                <a16:creationId xmlns:a16="http://schemas.microsoft.com/office/drawing/2014/main" id="{744E5301-393A-2733-B413-6AEBE6A57C18}"/>
              </a:ext>
            </a:extLst>
          </p:cNvPr>
          <p:cNvCxnSpPr>
            <a:cxnSpLocks/>
            <a:stCxn id="44" idx="0"/>
            <a:endCxn id="4" idx="2"/>
          </p:cNvCxnSpPr>
          <p:nvPr/>
        </p:nvCxnSpPr>
        <p:spPr>
          <a:xfrm rot="16200000" flipV="1">
            <a:off x="1297780" y="2636450"/>
            <a:ext cx="2050842" cy="1455020"/>
          </a:xfrm>
          <a:prstGeom prst="bentConnector3">
            <a:avLst>
              <a:gd name="adj1" fmla="val 50000"/>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89E2275E-9029-DECD-82B7-99EC898B877A}"/>
              </a:ext>
            </a:extLst>
          </p:cNvPr>
          <p:cNvCxnSpPr>
            <a:cxnSpLocks/>
            <a:stCxn id="8" idx="2"/>
            <a:endCxn id="11" idx="2"/>
          </p:cNvCxnSpPr>
          <p:nvPr/>
        </p:nvCxnSpPr>
        <p:spPr>
          <a:xfrm rot="5400000" flipH="1">
            <a:off x="5756853" y="340865"/>
            <a:ext cx="1327765" cy="8878546"/>
          </a:xfrm>
          <a:prstGeom prst="bentConnector3">
            <a:avLst>
              <a:gd name="adj1" fmla="val -17217"/>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C2FC38F6-6E10-C924-30DC-372004572DF2}"/>
              </a:ext>
            </a:extLst>
          </p:cNvPr>
          <p:cNvSpPr txBox="1"/>
          <p:nvPr/>
        </p:nvSpPr>
        <p:spPr>
          <a:xfrm>
            <a:off x="500016" y="5775235"/>
            <a:ext cx="10359992" cy="3046988"/>
          </a:xfrm>
          <a:prstGeom prst="rect">
            <a:avLst/>
          </a:prstGeom>
          <a:noFill/>
        </p:spPr>
        <p:txBody>
          <a:bodyPr wrap="square" rtlCol="0">
            <a:spAutoFit/>
          </a:bodyPr>
          <a:lstStyle/>
          <a:p>
            <a:r>
              <a:rPr lang="en-US" sz="1200" dirty="0"/>
              <a:t>When upload diagram is called (red arrows), the following occurs:</a:t>
            </a:r>
          </a:p>
          <a:p>
            <a:pPr marL="228600" indent="-228600">
              <a:buFont typeface="+mj-lt"/>
              <a:buAutoNum type="arabicPeriod"/>
            </a:pPr>
            <a:r>
              <a:rPr lang="en-US" sz="1200" dirty="0"/>
              <a:t>Upload </a:t>
            </a:r>
            <a:r>
              <a:rPr lang="en-US" sz="1200" dirty="0" err="1"/>
              <a:t>cytoscape.js</a:t>
            </a:r>
            <a:r>
              <a:rPr lang="en-US" sz="1200" dirty="0"/>
              <a:t> </a:t>
            </a:r>
            <a:r>
              <a:rPr lang="en-US" sz="1200" dirty="0" err="1"/>
              <a:t>json</a:t>
            </a:r>
            <a:r>
              <a:rPr lang="en-US" sz="1200" dirty="0"/>
              <a:t> to the central space (saved in a shared file), enabling other users to edit the same pathway diagram</a:t>
            </a:r>
          </a:p>
          <a:p>
            <a:pPr marL="228600" indent="-228600">
              <a:buFont typeface="+mj-lt"/>
              <a:buAutoNum type="arabicPeriod"/>
            </a:pPr>
            <a:r>
              <a:rPr lang="en-US" sz="1200" dirty="0"/>
              <a:t>Create or update </a:t>
            </a:r>
            <a:r>
              <a:rPr lang="en-US" sz="1200" dirty="0" err="1"/>
              <a:t>PathwayDiagram</a:t>
            </a:r>
            <a:r>
              <a:rPr lang="en-US" sz="1200" dirty="0"/>
              <a:t> instance associated with this </a:t>
            </a:r>
            <a:r>
              <a:rPr lang="en-US" sz="1200" dirty="0" err="1"/>
              <a:t>cytoscape.js</a:t>
            </a:r>
            <a:r>
              <a:rPr lang="en-US" sz="1200" dirty="0"/>
              <a:t>. This will be handled by the backend for better and more robust control.</a:t>
            </a:r>
          </a:p>
          <a:p>
            <a:pPr marL="228600" indent="-228600">
              <a:buFont typeface="+mj-lt"/>
              <a:buAutoNum type="arabicPeriod"/>
            </a:pPr>
            <a:r>
              <a:rPr lang="en-US" sz="1200" dirty="0"/>
              <a:t>Generate diagram </a:t>
            </a:r>
            <a:r>
              <a:rPr lang="en-US" sz="1200" dirty="0" err="1"/>
              <a:t>json</a:t>
            </a:r>
            <a:r>
              <a:rPr lang="en-US" sz="1200" dirty="0"/>
              <a:t> files for the represented pathways, including both normal and disease pathways if applicable</a:t>
            </a:r>
          </a:p>
          <a:p>
            <a:pPr marL="228600" indent="-228600">
              <a:buFont typeface="+mj-lt"/>
              <a:buAutoNum type="arabicPeriod"/>
            </a:pPr>
            <a:endParaRPr lang="en-US" sz="1200" dirty="0"/>
          </a:p>
          <a:p>
            <a:r>
              <a:rPr lang="en-US" sz="1200" dirty="0"/>
              <a:t>Notes:</a:t>
            </a:r>
          </a:p>
          <a:p>
            <a:pPr marL="228600" indent="-228600">
              <a:buFont typeface="+mj-lt"/>
              <a:buAutoNum type="arabicPeriod"/>
            </a:pPr>
            <a:r>
              <a:rPr lang="en-US" sz="1200" dirty="0"/>
              <a:t>After the diagram is edited (e.g. moving a node), which will be tracked, closing the </a:t>
            </a:r>
            <a:r>
              <a:rPr lang="en-US" sz="1200" dirty="0" err="1"/>
              <a:t>brower</a:t>
            </a:r>
            <a:r>
              <a:rPr lang="en-US" sz="1200" dirty="0"/>
              <a:t>, reload, or switch to another diagram will ask the user if they want to upload the diagram. Otherwise, the change will be gone.</a:t>
            </a:r>
          </a:p>
          <a:p>
            <a:pPr marL="228600" indent="-228600">
              <a:buFont typeface="+mj-lt"/>
              <a:buAutoNum type="arabicPeriod"/>
            </a:pPr>
            <a:r>
              <a:rPr lang="en-US" sz="1200" dirty="0"/>
              <a:t>This will be enforced: no event related instances (Event, </a:t>
            </a:r>
            <a:r>
              <a:rPr lang="en-US" sz="1200" dirty="0" err="1"/>
              <a:t>PhysicalEntity</a:t>
            </a:r>
            <a:r>
              <a:rPr lang="en-US" sz="1200" dirty="0"/>
              <a:t>, Regulation, </a:t>
            </a:r>
            <a:r>
              <a:rPr lang="en-US" sz="1200" dirty="0" err="1"/>
              <a:t>CatalystActivity</a:t>
            </a:r>
            <a:r>
              <a:rPr lang="en-US" sz="1200" dirty="0"/>
              <a:t>, </a:t>
            </a:r>
            <a:r>
              <a:rPr lang="en-US" sz="1200" dirty="0" err="1"/>
              <a:t>PathwayDiagram</a:t>
            </a:r>
            <a:r>
              <a:rPr lang="en-US" sz="1200" dirty="0"/>
              <a:t>) should be outstanding at staged space. This may be overkill, but should be simpler to implement and enforce. Before uploading the pathway diagram, make sure all these instances should be committed first.  </a:t>
            </a:r>
          </a:p>
          <a:p>
            <a:pPr marL="228600" indent="-228600">
              <a:buFont typeface="+mj-lt"/>
              <a:buAutoNum type="arabicPeriod"/>
            </a:pPr>
            <a:r>
              <a:rPr lang="en-US" sz="1200" dirty="0"/>
              <a:t>For the time being, the edits in one browser will not be synchronized in another browser. </a:t>
            </a:r>
          </a:p>
          <a:p>
            <a:pPr marL="228600" indent="-228600">
              <a:buFont typeface="+mj-lt"/>
              <a:buAutoNum type="arabicPeriod"/>
            </a:pPr>
            <a:r>
              <a:rPr lang="en-US" sz="1200" dirty="0" err="1"/>
              <a:t>PathwayDigram</a:t>
            </a:r>
            <a:r>
              <a:rPr lang="en-US" sz="1200" dirty="0"/>
              <a:t> itself can still be edited, but only </a:t>
            </a:r>
            <a:r>
              <a:rPr lang="en-US" sz="1200" dirty="0" err="1"/>
              <a:t>representedPathway</a:t>
            </a:r>
            <a:r>
              <a:rPr lang="en-US" sz="1200" dirty="0"/>
              <a:t>. Before uploading the diagram, any edits to it needs to be committed first (see item 2 above).</a:t>
            </a:r>
          </a:p>
          <a:p>
            <a:pPr marL="228600" indent="-228600">
              <a:buFont typeface="+mj-lt"/>
              <a:buAutoNum type="arabicPeriod"/>
            </a:pPr>
            <a:endParaRPr lang="en-US" sz="1200" dirty="0"/>
          </a:p>
          <a:p>
            <a:pPr marL="228600" indent="-228600">
              <a:buFont typeface="+mj-lt"/>
              <a:buAutoNum type="arabicPeriod"/>
            </a:pPr>
            <a:endParaRPr lang="en-US" sz="1200" dirty="0"/>
          </a:p>
        </p:txBody>
      </p:sp>
      <p:sp>
        <p:nvSpPr>
          <p:cNvPr id="117" name="TextBox 116">
            <a:extLst>
              <a:ext uri="{FF2B5EF4-FFF2-40B4-BE49-F238E27FC236}">
                <a16:creationId xmlns:a16="http://schemas.microsoft.com/office/drawing/2014/main" id="{DE45C6D2-7AEF-61B2-6BF9-E6F3FBBB985F}"/>
              </a:ext>
            </a:extLst>
          </p:cNvPr>
          <p:cNvSpPr txBox="1"/>
          <p:nvPr/>
        </p:nvSpPr>
        <p:spPr>
          <a:xfrm>
            <a:off x="1916875" y="5071536"/>
            <a:ext cx="750670" cy="461665"/>
          </a:xfrm>
          <a:prstGeom prst="rect">
            <a:avLst/>
          </a:prstGeom>
          <a:noFill/>
        </p:spPr>
        <p:txBody>
          <a:bodyPr wrap="square" rtlCol="0">
            <a:spAutoFit/>
          </a:bodyPr>
          <a:lstStyle/>
          <a:p>
            <a:pPr algn="ctr"/>
            <a:r>
              <a:rPr lang="en-US" sz="1200" dirty="0"/>
              <a:t>create or modify</a:t>
            </a:r>
          </a:p>
        </p:txBody>
      </p:sp>
      <p:sp>
        <p:nvSpPr>
          <p:cNvPr id="118" name="TextBox 117">
            <a:extLst>
              <a:ext uri="{FF2B5EF4-FFF2-40B4-BE49-F238E27FC236}">
                <a16:creationId xmlns:a16="http://schemas.microsoft.com/office/drawing/2014/main" id="{2A449E06-B74B-6C2A-8002-3D3C3EC445B7}"/>
              </a:ext>
            </a:extLst>
          </p:cNvPr>
          <p:cNvSpPr txBox="1"/>
          <p:nvPr/>
        </p:nvSpPr>
        <p:spPr>
          <a:xfrm>
            <a:off x="3003067" y="3718421"/>
            <a:ext cx="750670" cy="276999"/>
          </a:xfrm>
          <a:prstGeom prst="rect">
            <a:avLst/>
          </a:prstGeom>
          <a:noFill/>
        </p:spPr>
        <p:txBody>
          <a:bodyPr wrap="square" rtlCol="0">
            <a:spAutoFit/>
          </a:bodyPr>
          <a:lstStyle/>
          <a:p>
            <a:pPr algn="ctr"/>
            <a:r>
              <a:rPr lang="en-US" sz="1200" dirty="0"/>
              <a:t>generate</a:t>
            </a:r>
          </a:p>
        </p:txBody>
      </p:sp>
      <p:cxnSp>
        <p:nvCxnSpPr>
          <p:cNvPr id="3" name="Elbow Connector 2">
            <a:extLst>
              <a:ext uri="{FF2B5EF4-FFF2-40B4-BE49-F238E27FC236}">
                <a16:creationId xmlns:a16="http://schemas.microsoft.com/office/drawing/2014/main" id="{8F5F5B08-3DC1-7EF5-F3D6-3DD665B848E8}"/>
              </a:ext>
            </a:extLst>
          </p:cNvPr>
          <p:cNvCxnSpPr>
            <a:cxnSpLocks/>
            <a:stCxn id="8" idx="2"/>
            <a:endCxn id="44" idx="2"/>
          </p:cNvCxnSpPr>
          <p:nvPr/>
        </p:nvCxnSpPr>
        <p:spPr>
          <a:xfrm rot="5400000" flipH="1">
            <a:off x="6659046" y="1243058"/>
            <a:ext cx="592627" cy="7809298"/>
          </a:xfrm>
          <a:prstGeom prst="bentConnector3">
            <a:avLst>
              <a:gd name="adj1" fmla="val -38574"/>
            </a:avLst>
          </a:prstGeom>
          <a:ln w="952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9466305-BC45-0344-1471-2B26724ACA92}"/>
              </a:ext>
            </a:extLst>
          </p:cNvPr>
          <p:cNvSpPr txBox="1"/>
          <p:nvPr/>
        </p:nvSpPr>
        <p:spPr>
          <a:xfrm>
            <a:off x="3013297" y="5186194"/>
            <a:ext cx="615874" cy="276999"/>
          </a:xfrm>
          <a:prstGeom prst="rect">
            <a:avLst/>
          </a:prstGeom>
          <a:noFill/>
        </p:spPr>
        <p:txBody>
          <a:bodyPr wrap="none" rtlCol="0">
            <a:spAutoFit/>
          </a:bodyPr>
          <a:lstStyle/>
          <a:p>
            <a:r>
              <a:rPr lang="en-US" sz="1200" dirty="0"/>
              <a:t>upload</a:t>
            </a:r>
          </a:p>
        </p:txBody>
      </p:sp>
    </p:spTree>
    <p:extLst>
      <p:ext uri="{BB962C8B-B14F-4D97-AF65-F5344CB8AC3E}">
        <p14:creationId xmlns:p14="http://schemas.microsoft.com/office/powerpoint/2010/main" val="165371955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255</TotalTime>
  <Words>691</Words>
  <Application>Microsoft Macintosh PowerPoint</Application>
  <PresentationFormat>Custom</PresentationFormat>
  <Paragraphs>73</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Arial</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Guanming Wu</dc:creator>
  <cp:lastModifiedBy>Guanming Wu</cp:lastModifiedBy>
  <cp:revision>66</cp:revision>
  <dcterms:created xsi:type="dcterms:W3CDTF">2024-02-22T16:18:14Z</dcterms:created>
  <dcterms:modified xsi:type="dcterms:W3CDTF">2026-02-18T19:33:55Z</dcterms:modified>
</cp:coreProperties>
</file>